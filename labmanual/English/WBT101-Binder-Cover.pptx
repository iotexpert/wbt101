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sldIdLst>
    <p:sldId id="256" r:id="rId2"/>
    <p:sldId id="257" r:id="rId3"/>
  </p:sldIdLst>
  <p:sldSz cx="6858000" cy="9144000" type="letter"/>
  <p:notesSz cx="68580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08"/>
    <p:restoredTop sz="95673"/>
  </p:normalViewPr>
  <p:slideViewPr>
    <p:cSldViewPr snapToGrid="0" snapToObjects="1">
      <p:cViewPr varScale="1">
        <p:scale>
          <a:sx n="46" d="100"/>
          <a:sy n="46" d="100"/>
        </p:scale>
        <p:origin x="1470" y="4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496484"/>
            <a:ext cx="5829300" cy="3183467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4802717"/>
            <a:ext cx="5143500" cy="2207683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9117CB-CD87-A145-B0DD-B1FF23D56DC0}" type="datetimeFigureOut">
              <a:rPr lang="en-US" smtClean="0"/>
              <a:t>5/2/2019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F0629E-A76F-0A42-A44D-9EB91117B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70726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9117CB-CD87-A145-B0DD-B1FF23D56DC0}" type="datetimeFigureOut">
              <a:rPr lang="en-US" smtClean="0"/>
              <a:t>5/2/2019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F0629E-A76F-0A42-A44D-9EB91117B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09493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279653"/>
            <a:ext cx="5915025" cy="3803649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119286"/>
            <a:ext cx="5915025" cy="2000249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9117CB-CD87-A145-B0DD-B1FF23D56DC0}" type="datetimeFigureOut">
              <a:rPr lang="en-US" smtClean="0"/>
              <a:t>5/2/2019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F0629E-A76F-0A42-A44D-9EB91117B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22949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434167"/>
            <a:ext cx="291465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434167"/>
            <a:ext cx="291465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9117CB-CD87-A145-B0DD-B1FF23D56DC0}" type="datetimeFigureOut">
              <a:rPr lang="en-US" smtClean="0"/>
              <a:t>5/2/2019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F0629E-A76F-0A42-A44D-9EB91117B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91703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486836"/>
            <a:ext cx="5915025" cy="176741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241551"/>
            <a:ext cx="2901255" cy="1098549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340100"/>
            <a:ext cx="2901255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241551"/>
            <a:ext cx="2915543" cy="1098549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340100"/>
            <a:ext cx="2915543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9117CB-CD87-A145-B0DD-B1FF23D56DC0}" type="datetimeFigureOut">
              <a:rPr lang="en-US" smtClean="0"/>
              <a:t>5/2/2019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F0629E-A76F-0A42-A44D-9EB91117B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9493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9117CB-CD87-A145-B0DD-B1FF23D56DC0}" type="datetimeFigureOut">
              <a:rPr lang="en-US" smtClean="0"/>
              <a:t>5/2/2019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F0629E-A76F-0A42-A44D-9EB91117B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0416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9117CB-CD87-A145-B0DD-B1FF23D56DC0}" type="datetimeFigureOut">
              <a:rPr lang="en-US" smtClean="0"/>
              <a:t>5/2/2019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F0629E-A76F-0A42-A44D-9EB91117B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99713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316569"/>
            <a:ext cx="3471863" cy="6498167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43200"/>
            <a:ext cx="2211884" cy="508211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9117CB-CD87-A145-B0DD-B1FF23D56DC0}" type="datetimeFigureOut">
              <a:rPr lang="en-US" smtClean="0"/>
              <a:t>5/2/2019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F0629E-A76F-0A42-A44D-9EB91117B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80342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316569"/>
            <a:ext cx="3471863" cy="6498167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Drag picture to placeholder or click icon to add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43200"/>
            <a:ext cx="2211884" cy="508211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9117CB-CD87-A145-B0DD-B1FF23D56DC0}" type="datetimeFigureOut">
              <a:rPr lang="en-US" smtClean="0"/>
              <a:t>5/2/2019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F0629E-A76F-0A42-A44D-9EB91117B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32480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9117CB-CD87-A145-B0DD-B1FF23D56DC0}" type="datetimeFigureOut">
              <a:rPr lang="en-US" smtClean="0"/>
              <a:t>5/2/2019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F0629E-A76F-0A42-A44D-9EB91117B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88285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486834"/>
            <a:ext cx="1478756" cy="774911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486834"/>
            <a:ext cx="4350544" cy="77491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9117CB-CD87-A145-B0DD-B1FF23D56DC0}" type="datetimeFigureOut">
              <a:rPr lang="en-US" smtClean="0"/>
              <a:t>5/2/2019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F0629E-A76F-0A42-A44D-9EB91117B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56550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486836"/>
            <a:ext cx="5915025" cy="17674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434167"/>
            <a:ext cx="5915025" cy="58017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D9117CB-CD87-A145-B0DD-B1FF23D56DC0}" type="datetimeFigureOut">
              <a:rPr lang="en-US" smtClean="0"/>
              <a:t>5/2/2019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F0629E-A76F-0A42-A44D-9EB91117B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95748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0" y="519193"/>
            <a:ext cx="68580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/>
              <a:t>Cypress Academy</a:t>
            </a:r>
          </a:p>
          <a:p>
            <a:pPr algn="ctr"/>
            <a:r>
              <a:rPr lang="en-US" sz="6000" dirty="0"/>
              <a:t>WICED Bluetooth 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-19684" y="7338330"/>
            <a:ext cx="6858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Alan Hawse</a:t>
            </a:r>
          </a:p>
          <a:p>
            <a:pPr algn="ctr"/>
            <a:r>
              <a:rPr lang="en-US" sz="2400" dirty="0"/>
              <a:t>Greg Landry</a:t>
            </a:r>
          </a:p>
          <a:p>
            <a:pPr algn="ctr"/>
            <a:r>
              <a:rPr lang="en-US" sz="2400" dirty="0"/>
              <a:t>Mark Saunders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1C725C4-0D41-45F5-B805-41EF749983A1}"/>
              </a:ext>
            </a:extLst>
          </p:cNvPr>
          <p:cNvSpPr txBox="1"/>
          <p:nvPr/>
        </p:nvSpPr>
        <p:spPr>
          <a:xfrm>
            <a:off x="6036493" y="8812800"/>
            <a:ext cx="80182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dirty="0"/>
              <a:t>Version 4.1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75DE225-1A13-4426-AF69-AD6798B3D8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2182" y="3536791"/>
            <a:ext cx="3053636" cy="31347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98964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DB73B94-F562-4580-B75B-1A4DD6109FB0}"/>
              </a:ext>
            </a:extLst>
          </p:cNvPr>
          <p:cNvSpPr txBox="1"/>
          <p:nvPr/>
        </p:nvSpPr>
        <p:spPr>
          <a:xfrm>
            <a:off x="472273" y="974690"/>
            <a:ext cx="5918479" cy="65248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1100" dirty="0"/>
              <a:t>For me, Cypress has always been about the people.  Greg and I have now been friends for more than half of our lives and there is not a day that goes by that I am not grateful for that friendship as well as his engineering abilities.  Together we have put our hearts and souls into making this book a reality. </a:t>
            </a:r>
          </a:p>
          <a:p>
            <a:pPr algn="just"/>
            <a:endParaRPr lang="en-US" sz="1100" dirty="0"/>
          </a:p>
          <a:p>
            <a:pPr algn="just"/>
            <a:r>
              <a:rPr lang="en-US" sz="1100" dirty="0"/>
              <a:t>This would not have been possible without the several hundred remarkable people who joined Cypress as part of the Broadcom IoT acquisition in the Summer of 2016.  Cypress can be a prickly place to work, yet these people showed their integrity by choosing to overcome those barriers. </a:t>
            </a:r>
          </a:p>
          <a:p>
            <a:pPr algn="just"/>
            <a:endParaRPr lang="en-US" sz="1100" dirty="0"/>
          </a:p>
          <a:p>
            <a:pPr algn="just"/>
            <a:r>
              <a:rPr lang="en-US" sz="1100" dirty="0"/>
              <a:t>There are number of people, in particular, without whom we would have never sorted this out.  That list includes: </a:t>
            </a:r>
          </a:p>
          <a:p>
            <a:pPr algn="just"/>
            <a:endParaRPr lang="en-US" sz="1100" dirty="0"/>
          </a:p>
          <a:p>
            <a:pPr algn="just"/>
            <a:r>
              <a:rPr lang="en-US" sz="1100" dirty="0"/>
              <a:t>Victor Zhodzishsky, Ash Kapur, Arvind Sridharan, Narasimha Rao and Vikram Ramanna for their countless descriptions, explanations, and examples. </a:t>
            </a:r>
          </a:p>
          <a:p>
            <a:pPr algn="just"/>
            <a:endParaRPr lang="en-US" sz="1100" dirty="0"/>
          </a:p>
          <a:p>
            <a:pPr algn="just"/>
            <a:r>
              <a:rPr lang="en-US" sz="1100" dirty="0"/>
              <a:t>Mark Saunders and Wesley Siebenthaler for putting up with Alan and persevering  through countless revisions of the book and examples as our alpha testers (and beta testers, and gamma testers…) </a:t>
            </a:r>
          </a:p>
          <a:p>
            <a:pPr algn="just"/>
            <a:endParaRPr lang="en-US" sz="1100" dirty="0"/>
          </a:p>
          <a:p>
            <a:pPr algn="just"/>
            <a:r>
              <a:rPr lang="en-US" sz="1100" dirty="0"/>
              <a:t>Matt Landrum, Scott Atkins, and Raul Hernandez for providing material and comments for the conversion of the class from WICED Studio to ModusToolbox.</a:t>
            </a:r>
          </a:p>
          <a:p>
            <a:pPr algn="just"/>
            <a:endParaRPr lang="en-US" sz="1100" dirty="0"/>
          </a:p>
          <a:p>
            <a:pPr algn="just"/>
            <a:r>
              <a:rPr lang="en-US" sz="1100" dirty="0"/>
              <a:t>Abhishek </a:t>
            </a:r>
            <a:r>
              <a:rPr lang="en-US" sz="1100" dirty="0" err="1"/>
              <a:t>Khinversa</a:t>
            </a:r>
            <a:r>
              <a:rPr lang="en-US" sz="1100" dirty="0"/>
              <a:t> and Srikanth Neerella for their understanding of optimizing for low power in BLE designs and Santhosh Kumar Vojjala for insight into the world of Classic Bluetooth. </a:t>
            </a:r>
          </a:p>
          <a:p>
            <a:pPr algn="just"/>
            <a:endParaRPr lang="en-US" sz="1100" dirty="0"/>
          </a:p>
          <a:p>
            <a:pPr algn="just"/>
            <a:r>
              <a:rPr lang="en-US" sz="1100" dirty="0"/>
              <a:t>Nancy Jenkins for putting up with a continuous stream of last second changes and unreasonable demands. </a:t>
            </a:r>
          </a:p>
          <a:p>
            <a:pPr algn="just"/>
            <a:endParaRPr lang="en-US" sz="1100" dirty="0"/>
          </a:p>
          <a:p>
            <a:pPr algn="just"/>
            <a:r>
              <a:rPr lang="en-US" sz="1100" dirty="0"/>
              <a:t>One final additional thank you to Victor and Ash who started working on the Bluetooth Specifications at the very beginning.  Without their contributions, WICED &amp; Bluetooth as we know it today would not exist. </a:t>
            </a:r>
          </a:p>
          <a:p>
            <a:pPr algn="just"/>
            <a:endParaRPr lang="en-US" sz="1100" dirty="0"/>
          </a:p>
          <a:p>
            <a:pPr algn="just"/>
            <a:r>
              <a:rPr lang="en-US" sz="1100" dirty="0"/>
              <a:t>The IoT is a once in a generation opportunity for which Cypress is almost uniquely suited to take advantage of.  We have the right chips,  software, people and leadership to be a transformational force.  It is our sincere hope that this book eases your journey to that place of greatness. </a:t>
            </a:r>
          </a:p>
          <a:p>
            <a:endParaRPr lang="en-US" sz="1100" dirty="0"/>
          </a:p>
          <a:p>
            <a:r>
              <a:rPr lang="en-US" sz="1100" dirty="0"/>
              <a:t>Alan Hawse </a:t>
            </a:r>
          </a:p>
          <a:p>
            <a:r>
              <a:rPr lang="en-US" sz="1100" dirty="0"/>
              <a:t>Greg Landry </a:t>
            </a:r>
          </a:p>
          <a:p>
            <a:r>
              <a:rPr lang="en-US" sz="1100" dirty="0"/>
              <a:t>Kentucky, Fall 2018 </a:t>
            </a:r>
          </a:p>
        </p:txBody>
      </p:sp>
    </p:spTree>
    <p:extLst>
      <p:ext uri="{BB962C8B-B14F-4D97-AF65-F5344CB8AC3E}">
        <p14:creationId xmlns:p14="http://schemas.microsoft.com/office/powerpoint/2010/main" val="4214803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99</TotalTime>
  <Words>379</Words>
  <Application>Microsoft Office PowerPoint</Application>
  <PresentationFormat>Letter Paper (8.5x11 in)</PresentationFormat>
  <Paragraphs>29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Alan Hawse</dc:creator>
  <cp:lastModifiedBy>Greg Landry</cp:lastModifiedBy>
  <cp:revision>58</cp:revision>
  <cp:lastPrinted>2017-10-25T14:21:05Z</cp:lastPrinted>
  <dcterms:created xsi:type="dcterms:W3CDTF">2016-10-21T14:02:28Z</dcterms:created>
  <dcterms:modified xsi:type="dcterms:W3CDTF">2019-05-02T20:46:44Z</dcterms:modified>
</cp:coreProperties>
</file>