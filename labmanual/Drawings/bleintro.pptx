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6858000" cy="9144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03"/>
    <p:restoredTop sz="94676"/>
  </p:normalViewPr>
  <p:slideViewPr>
    <p:cSldViewPr snapToGrid="0" snapToObjects="1">
      <p:cViewPr>
        <p:scale>
          <a:sx n="90" d="100"/>
          <a:sy n="90" d="100"/>
        </p:scale>
        <p:origin x="1107" y="-18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78E9C7-9CA3-A64A-B46C-6E620848F682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E8A9ED-1D9C-F84A-B74D-59B8AEADE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221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5F2AB9-D88E-BD44-B295-056A7213B648}" type="datetimeFigureOut">
              <a:rPr lang="en-US" smtClean="0"/>
              <a:t>5/8/2019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D5A4F4-058C-B140-97E8-B92918D6D0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654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75"/>
          <p:cNvSpPr txBox="1"/>
          <p:nvPr/>
        </p:nvSpPr>
        <p:spPr>
          <a:xfrm>
            <a:off x="66242" y="5622559"/>
            <a:ext cx="1198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Connected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82243" y="5622559"/>
            <a:ext cx="1198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Connected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333944" y="152774"/>
            <a:ext cx="6279259" cy="2521638"/>
            <a:chOff x="333944" y="152774"/>
            <a:chExt cx="6279259" cy="2521638"/>
          </a:xfrm>
        </p:grpSpPr>
        <p:grpSp>
          <p:nvGrpSpPr>
            <p:cNvPr id="16" name="Group 15"/>
            <p:cNvGrpSpPr/>
            <p:nvPr/>
          </p:nvGrpSpPr>
          <p:grpSpPr>
            <a:xfrm>
              <a:off x="1351852" y="929883"/>
              <a:ext cx="1733740" cy="276999"/>
              <a:chOff x="1284479" y="2681513"/>
              <a:chExt cx="1733740" cy="276999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1284479" y="2681513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2203129" y="2681513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2750197" y="2681513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sp>
          <p:nvSpPr>
            <p:cNvPr id="17" name="TextBox 16"/>
            <p:cNvSpPr txBox="1"/>
            <p:nvPr/>
          </p:nvSpPr>
          <p:spPr>
            <a:xfrm>
              <a:off x="1872126" y="152774"/>
              <a:ext cx="114525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WICED</a:t>
              </a:r>
            </a:p>
            <a:p>
              <a:pPr algn="ctr"/>
              <a:r>
                <a:rPr lang="en-US" u="sng"/>
                <a:t>Peripheral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96359" y="152774"/>
              <a:ext cx="118173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Cell Phone</a:t>
              </a:r>
            </a:p>
            <a:p>
              <a:pPr algn="ctr"/>
              <a:r>
                <a:rPr lang="en-US" u="sng"/>
                <a:t>Central</a:t>
              </a:r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1351852" y="1875372"/>
              <a:ext cx="1733740" cy="276999"/>
              <a:chOff x="1284479" y="2681513"/>
              <a:chExt cx="1733740" cy="276999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1284479" y="2681513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2203129" y="2681513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2750197" y="2681513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  <p:cxnSp>
            <p:nvCxnSpPr>
              <p:cNvPr id="23" name="Straight Arrow Connector 22"/>
              <p:cNvCxnSpPr/>
              <p:nvPr/>
            </p:nvCxnSpPr>
            <p:spPr>
              <a:xfrm flipV="1">
                <a:off x="1558913" y="2758369"/>
                <a:ext cx="634620" cy="1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/>
              <p:cNvSpPr txBox="1"/>
              <p:nvPr/>
            </p:nvSpPr>
            <p:spPr>
              <a:xfrm>
                <a:off x="1733670" y="2691787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25" name="Group 24"/>
              <p:cNvGrpSpPr/>
              <p:nvPr/>
            </p:nvGrpSpPr>
            <p:grpSpPr>
              <a:xfrm>
                <a:off x="1568509" y="2797959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27" name="Straight Arrow Connector 26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triangle" w="sm" len="sm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TextBox 27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26" name="Straight Arrow Connector 25"/>
              <p:cNvCxnSpPr/>
              <p:nvPr/>
            </p:nvCxnSpPr>
            <p:spPr>
              <a:xfrm flipV="1">
                <a:off x="2470234" y="2814898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oup 50"/>
            <p:cNvGrpSpPr/>
            <p:nvPr/>
          </p:nvGrpSpPr>
          <p:grpSpPr>
            <a:xfrm>
              <a:off x="3979865" y="927325"/>
              <a:ext cx="1783214" cy="282114"/>
              <a:chOff x="447769" y="5723587"/>
              <a:chExt cx="1783214" cy="282114"/>
            </a:xfrm>
          </p:grpSpPr>
          <p:sp>
            <p:nvSpPr>
              <p:cNvPr id="41" name="TextBox 40"/>
              <p:cNvSpPr txBox="1"/>
              <p:nvPr/>
            </p:nvSpPr>
            <p:spPr>
              <a:xfrm>
                <a:off x="1037899" y="5728702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1956549" y="5728702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cxnSp>
            <p:nvCxnSpPr>
              <p:cNvPr id="44" name="Straight Arrow Connector 43"/>
              <p:cNvCxnSpPr/>
              <p:nvPr/>
            </p:nvCxnSpPr>
            <p:spPr>
              <a:xfrm flipV="1">
                <a:off x="1312333" y="5805558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/>
              <p:cNvSpPr txBox="1"/>
              <p:nvPr/>
            </p:nvSpPr>
            <p:spPr>
              <a:xfrm>
                <a:off x="1487090" y="5738976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46" name="Group 45"/>
              <p:cNvGrpSpPr/>
              <p:nvPr/>
            </p:nvGrpSpPr>
            <p:grpSpPr>
              <a:xfrm>
                <a:off x="1321929" y="5845148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48" name="Straight Arrow Connector 47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TextBox 48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47" name="Straight Arrow Connector 46"/>
              <p:cNvCxnSpPr/>
              <p:nvPr/>
            </p:nvCxnSpPr>
            <p:spPr>
              <a:xfrm flipV="1">
                <a:off x="743525" y="5867904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Box 49"/>
              <p:cNvSpPr txBox="1"/>
              <p:nvPr/>
            </p:nvSpPr>
            <p:spPr>
              <a:xfrm>
                <a:off x="447769" y="5723587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sp>
          <p:nvSpPr>
            <p:cNvPr id="56" name="TextBox 55"/>
            <p:cNvSpPr txBox="1"/>
            <p:nvPr/>
          </p:nvSpPr>
          <p:spPr>
            <a:xfrm>
              <a:off x="966231" y="1470587"/>
              <a:ext cx="1797519" cy="24188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wiced</a:t>
              </a:r>
              <a:r>
                <a:rPr lang="en-US" sz="800" err="1"/>
                <a:t>_bt_stack_init</a:t>
              </a:r>
              <a:endParaRPr lang="en-US" sz="800"/>
            </a:p>
          </p:txBody>
        </p:sp>
        <p:grpSp>
          <p:nvGrpSpPr>
            <p:cNvPr id="57" name="Group 56"/>
            <p:cNvGrpSpPr/>
            <p:nvPr/>
          </p:nvGrpSpPr>
          <p:grpSpPr>
            <a:xfrm>
              <a:off x="3979865" y="1870257"/>
              <a:ext cx="1783214" cy="282114"/>
              <a:chOff x="447769" y="5723587"/>
              <a:chExt cx="1783214" cy="282114"/>
            </a:xfrm>
          </p:grpSpPr>
          <p:sp>
            <p:nvSpPr>
              <p:cNvPr id="58" name="TextBox 57"/>
              <p:cNvSpPr txBox="1"/>
              <p:nvPr/>
            </p:nvSpPr>
            <p:spPr>
              <a:xfrm>
                <a:off x="1037899" y="5728702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1956549" y="5728702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cxnSp>
            <p:nvCxnSpPr>
              <p:cNvPr id="60" name="Straight Arrow Connector 59"/>
              <p:cNvCxnSpPr/>
              <p:nvPr/>
            </p:nvCxnSpPr>
            <p:spPr>
              <a:xfrm flipV="1">
                <a:off x="1312333" y="5805558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/>
              <p:cNvSpPr txBox="1"/>
              <p:nvPr/>
            </p:nvSpPr>
            <p:spPr>
              <a:xfrm>
                <a:off x="1487090" y="5738976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62" name="Group 61"/>
              <p:cNvGrpSpPr/>
              <p:nvPr/>
            </p:nvGrpSpPr>
            <p:grpSpPr>
              <a:xfrm>
                <a:off x="1321929" y="5845148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65" name="Straight Arrow Connector 64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TextBox 65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63" name="Straight Arrow Connector 62"/>
              <p:cNvCxnSpPr/>
              <p:nvPr/>
            </p:nvCxnSpPr>
            <p:spPr>
              <a:xfrm flipV="1">
                <a:off x="743525" y="5867904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TextBox 63"/>
              <p:cNvSpPr txBox="1"/>
              <p:nvPr/>
            </p:nvSpPr>
            <p:spPr>
              <a:xfrm>
                <a:off x="447769" y="5723587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cxnSp>
          <p:nvCxnSpPr>
            <p:cNvPr id="52" name="Straight Arrow Connector 51"/>
            <p:cNvCxnSpPr/>
            <p:nvPr/>
          </p:nvCxnSpPr>
          <p:spPr>
            <a:xfrm>
              <a:off x="678564" y="1358947"/>
              <a:ext cx="0" cy="346873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/>
            <p:cNvSpPr txBox="1"/>
            <p:nvPr/>
          </p:nvSpPr>
          <p:spPr>
            <a:xfrm>
              <a:off x="427591" y="883716"/>
              <a:ext cx="475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Off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36183" y="1854193"/>
              <a:ext cx="4587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On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333944" y="379655"/>
              <a:ext cx="663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State</a:t>
              </a:r>
            </a:p>
          </p:txBody>
        </p:sp>
        <p:cxnSp>
          <p:nvCxnSpPr>
            <p:cNvPr id="80" name="Straight Arrow Connector 79"/>
            <p:cNvCxnSpPr/>
            <p:nvPr/>
          </p:nvCxnSpPr>
          <p:spPr>
            <a:xfrm>
              <a:off x="6281574" y="1358947"/>
              <a:ext cx="0" cy="346873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/>
            <p:cNvSpPr txBox="1"/>
            <p:nvPr/>
          </p:nvSpPr>
          <p:spPr>
            <a:xfrm>
              <a:off x="6135540" y="883716"/>
              <a:ext cx="292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?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6135540" y="1854193"/>
              <a:ext cx="2920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?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949945" y="379655"/>
              <a:ext cx="663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State</a:t>
              </a:r>
            </a:p>
          </p:txBody>
        </p:sp>
        <p:grpSp>
          <p:nvGrpSpPr>
            <p:cNvPr id="93" name="Group 92"/>
            <p:cNvGrpSpPr/>
            <p:nvPr/>
          </p:nvGrpSpPr>
          <p:grpSpPr>
            <a:xfrm>
              <a:off x="2430098" y="2397413"/>
              <a:ext cx="1905148" cy="276999"/>
              <a:chOff x="2419824" y="2746730"/>
              <a:chExt cx="1905148" cy="276999"/>
            </a:xfrm>
          </p:grpSpPr>
          <p:sp>
            <p:nvSpPr>
              <p:cNvPr id="68" name="TextBox 67"/>
              <p:cNvSpPr txBox="1"/>
              <p:nvPr/>
            </p:nvSpPr>
            <p:spPr>
              <a:xfrm>
                <a:off x="2677854" y="2746730"/>
                <a:ext cx="1647118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Stack </a:t>
                </a:r>
                <a:r>
                  <a:rPr lang="mr-IN" sz="1200"/>
                  <a:t>–</a:t>
                </a:r>
                <a:r>
                  <a:rPr lang="en-US" sz="1200"/>
                  <a:t> Bluetooth Stack</a:t>
                </a:r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2419824" y="2746730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</p:grpSp>
        <p:grpSp>
          <p:nvGrpSpPr>
            <p:cNvPr id="92" name="Group 91"/>
            <p:cNvGrpSpPr/>
            <p:nvPr/>
          </p:nvGrpSpPr>
          <p:grpSpPr>
            <a:xfrm>
              <a:off x="4533284" y="2397413"/>
              <a:ext cx="1966575" cy="276999"/>
              <a:chOff x="4533284" y="2746730"/>
              <a:chExt cx="1966575" cy="276999"/>
            </a:xfrm>
          </p:grpSpPr>
          <p:sp>
            <p:nvSpPr>
              <p:cNvPr id="88" name="TextBox 87"/>
              <p:cNvSpPr txBox="1"/>
              <p:nvPr/>
            </p:nvSpPr>
            <p:spPr>
              <a:xfrm>
                <a:off x="4533284" y="2746730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  <p:sp>
            <p:nvSpPr>
              <p:cNvPr id="90" name="TextBox 89"/>
              <p:cNvSpPr txBox="1"/>
              <p:nvPr/>
            </p:nvSpPr>
            <p:spPr>
              <a:xfrm>
                <a:off x="4804138" y="2746730"/>
                <a:ext cx="1695721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Radio </a:t>
                </a:r>
                <a:r>
                  <a:rPr lang="mr-IN" sz="1200"/>
                  <a:t>–</a:t>
                </a:r>
                <a:r>
                  <a:rPr lang="en-US" sz="1200"/>
                  <a:t> Bluetooth Radio</a:t>
                </a:r>
              </a:p>
            </p:txBody>
          </p:sp>
        </p:grpSp>
        <p:grpSp>
          <p:nvGrpSpPr>
            <p:cNvPr id="94" name="Group 93"/>
            <p:cNvGrpSpPr/>
            <p:nvPr/>
          </p:nvGrpSpPr>
          <p:grpSpPr>
            <a:xfrm>
              <a:off x="416651" y="2397413"/>
              <a:ext cx="1815409" cy="276999"/>
              <a:chOff x="416651" y="2746730"/>
              <a:chExt cx="1815409" cy="276999"/>
            </a:xfrm>
          </p:grpSpPr>
          <p:sp>
            <p:nvSpPr>
              <p:cNvPr id="86" name="TextBox 85"/>
              <p:cNvSpPr txBox="1"/>
              <p:nvPr/>
            </p:nvSpPr>
            <p:spPr>
              <a:xfrm>
                <a:off x="416651" y="2746730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91" name="TextBox 90"/>
              <p:cNvSpPr txBox="1"/>
              <p:nvPr/>
            </p:nvSpPr>
            <p:spPr>
              <a:xfrm>
                <a:off x="714465" y="2746730"/>
                <a:ext cx="1517595" cy="27699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Application Firmware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3023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75"/>
          <p:cNvSpPr txBox="1"/>
          <p:nvPr/>
        </p:nvSpPr>
        <p:spPr>
          <a:xfrm>
            <a:off x="66242" y="5622559"/>
            <a:ext cx="1198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Connected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82243" y="5622559"/>
            <a:ext cx="1198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Connected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5275" y="152774"/>
            <a:ext cx="6748492" cy="2557257"/>
            <a:chOff x="45275" y="152774"/>
            <a:chExt cx="6748492" cy="2557257"/>
          </a:xfrm>
        </p:grpSpPr>
        <p:sp>
          <p:nvSpPr>
            <p:cNvPr id="17" name="TextBox 16"/>
            <p:cNvSpPr txBox="1"/>
            <p:nvPr/>
          </p:nvSpPr>
          <p:spPr>
            <a:xfrm>
              <a:off x="1872126" y="152774"/>
              <a:ext cx="114525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WICED</a:t>
              </a:r>
            </a:p>
            <a:p>
              <a:pPr algn="ctr"/>
              <a:r>
                <a:rPr lang="en-US" u="sng"/>
                <a:t>Peripheral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96359" y="152774"/>
              <a:ext cx="118173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Cell Phone</a:t>
              </a:r>
            </a:p>
            <a:p>
              <a:pPr algn="ctr"/>
              <a:r>
                <a:rPr lang="en-US" u="sng"/>
                <a:t>Central</a:t>
              </a:r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1351852" y="847958"/>
              <a:ext cx="1733740" cy="276999"/>
              <a:chOff x="1284479" y="2681513"/>
              <a:chExt cx="1733740" cy="276999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1284479" y="2681513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2203129" y="2681513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2750197" y="2681513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  <p:cxnSp>
            <p:nvCxnSpPr>
              <p:cNvPr id="23" name="Straight Arrow Connector 22"/>
              <p:cNvCxnSpPr/>
              <p:nvPr/>
            </p:nvCxnSpPr>
            <p:spPr>
              <a:xfrm flipV="1">
                <a:off x="1558913" y="2758369"/>
                <a:ext cx="634620" cy="1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/>
              <p:cNvSpPr txBox="1"/>
              <p:nvPr/>
            </p:nvSpPr>
            <p:spPr>
              <a:xfrm>
                <a:off x="1733670" y="2691787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25" name="Group 24"/>
              <p:cNvGrpSpPr/>
              <p:nvPr/>
            </p:nvGrpSpPr>
            <p:grpSpPr>
              <a:xfrm>
                <a:off x="1568509" y="2797959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27" name="Straight Arrow Connector 26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triangle" w="sm" len="sm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TextBox 27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26" name="Straight Arrow Connector 25"/>
              <p:cNvCxnSpPr/>
              <p:nvPr/>
            </p:nvCxnSpPr>
            <p:spPr>
              <a:xfrm flipV="1">
                <a:off x="2470234" y="2814898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7" name="Group 56"/>
            <p:cNvGrpSpPr/>
            <p:nvPr/>
          </p:nvGrpSpPr>
          <p:grpSpPr>
            <a:xfrm>
              <a:off x="3979865" y="842843"/>
              <a:ext cx="1783214" cy="282114"/>
              <a:chOff x="447769" y="5723587"/>
              <a:chExt cx="1783214" cy="282114"/>
            </a:xfrm>
          </p:grpSpPr>
          <p:sp>
            <p:nvSpPr>
              <p:cNvPr id="58" name="TextBox 57"/>
              <p:cNvSpPr txBox="1"/>
              <p:nvPr/>
            </p:nvSpPr>
            <p:spPr>
              <a:xfrm>
                <a:off x="1037899" y="5728702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1956549" y="5728702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cxnSp>
            <p:nvCxnSpPr>
              <p:cNvPr id="60" name="Straight Arrow Connector 59"/>
              <p:cNvCxnSpPr/>
              <p:nvPr/>
            </p:nvCxnSpPr>
            <p:spPr>
              <a:xfrm flipV="1">
                <a:off x="1312333" y="5805558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/>
              <p:cNvSpPr txBox="1"/>
              <p:nvPr/>
            </p:nvSpPr>
            <p:spPr>
              <a:xfrm>
                <a:off x="1487090" y="5738976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62" name="Group 61"/>
              <p:cNvGrpSpPr/>
              <p:nvPr/>
            </p:nvGrpSpPr>
            <p:grpSpPr>
              <a:xfrm>
                <a:off x="1321929" y="5845148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65" name="Straight Arrow Connector 64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TextBox 65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63" name="Straight Arrow Connector 62"/>
              <p:cNvCxnSpPr/>
              <p:nvPr/>
            </p:nvCxnSpPr>
            <p:spPr>
              <a:xfrm flipV="1">
                <a:off x="743525" y="5867904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TextBox 63"/>
              <p:cNvSpPr txBox="1"/>
              <p:nvPr/>
            </p:nvSpPr>
            <p:spPr>
              <a:xfrm>
                <a:off x="447769" y="5723587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sp>
          <p:nvSpPr>
            <p:cNvPr id="55" name="TextBox 54"/>
            <p:cNvSpPr txBox="1"/>
            <p:nvPr/>
          </p:nvSpPr>
          <p:spPr>
            <a:xfrm>
              <a:off x="436183" y="826779"/>
              <a:ext cx="4587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On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333944" y="379655"/>
              <a:ext cx="663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State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5275" y="2281461"/>
              <a:ext cx="12405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Advertising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6135540" y="826779"/>
              <a:ext cx="2920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?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949945" y="379655"/>
              <a:ext cx="663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State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769383" y="2281461"/>
              <a:ext cx="1024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Scanning</a:t>
              </a:r>
            </a:p>
          </p:txBody>
        </p:sp>
        <p:grpSp>
          <p:nvGrpSpPr>
            <p:cNvPr id="69" name="Group 68"/>
            <p:cNvGrpSpPr/>
            <p:nvPr/>
          </p:nvGrpSpPr>
          <p:grpSpPr>
            <a:xfrm>
              <a:off x="1351852" y="2335988"/>
              <a:ext cx="1733740" cy="276999"/>
              <a:chOff x="1284479" y="2681513"/>
              <a:chExt cx="1733740" cy="276999"/>
            </a:xfrm>
          </p:grpSpPr>
          <p:sp>
            <p:nvSpPr>
              <p:cNvPr id="70" name="TextBox 69"/>
              <p:cNvSpPr txBox="1"/>
              <p:nvPr/>
            </p:nvSpPr>
            <p:spPr>
              <a:xfrm>
                <a:off x="1284479" y="2681513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71" name="TextBox 70"/>
              <p:cNvSpPr txBox="1"/>
              <p:nvPr/>
            </p:nvSpPr>
            <p:spPr>
              <a:xfrm>
                <a:off x="2203129" y="2681513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2750197" y="2681513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  <p:cxnSp>
            <p:nvCxnSpPr>
              <p:cNvPr id="73" name="Straight Arrow Connector 72"/>
              <p:cNvCxnSpPr/>
              <p:nvPr/>
            </p:nvCxnSpPr>
            <p:spPr>
              <a:xfrm flipV="1">
                <a:off x="1558913" y="2758369"/>
                <a:ext cx="634620" cy="1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/>
              <p:cNvSpPr txBox="1"/>
              <p:nvPr/>
            </p:nvSpPr>
            <p:spPr>
              <a:xfrm>
                <a:off x="1733670" y="2691787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78" name="Group 77"/>
              <p:cNvGrpSpPr/>
              <p:nvPr/>
            </p:nvGrpSpPr>
            <p:grpSpPr>
              <a:xfrm>
                <a:off x="1568509" y="2797959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95" name="Straight Arrow Connector 94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triangle" w="sm" len="sm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6" name="TextBox 95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87" name="Straight Arrow Connector 86"/>
              <p:cNvCxnSpPr/>
              <p:nvPr/>
            </p:nvCxnSpPr>
            <p:spPr>
              <a:xfrm flipV="1">
                <a:off x="2470234" y="2814898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oup 96"/>
            <p:cNvGrpSpPr/>
            <p:nvPr/>
          </p:nvGrpSpPr>
          <p:grpSpPr>
            <a:xfrm>
              <a:off x="3978154" y="2330873"/>
              <a:ext cx="1783214" cy="282114"/>
              <a:chOff x="447769" y="5723587"/>
              <a:chExt cx="1783214" cy="282114"/>
            </a:xfrm>
          </p:grpSpPr>
          <p:sp>
            <p:nvSpPr>
              <p:cNvPr id="98" name="TextBox 97"/>
              <p:cNvSpPr txBox="1"/>
              <p:nvPr/>
            </p:nvSpPr>
            <p:spPr>
              <a:xfrm>
                <a:off x="1037899" y="5728702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99" name="TextBox 98"/>
              <p:cNvSpPr txBox="1"/>
              <p:nvPr/>
            </p:nvSpPr>
            <p:spPr>
              <a:xfrm>
                <a:off x="1956549" y="5728702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cxnSp>
            <p:nvCxnSpPr>
              <p:cNvPr id="100" name="Straight Arrow Connector 99"/>
              <p:cNvCxnSpPr/>
              <p:nvPr/>
            </p:nvCxnSpPr>
            <p:spPr>
              <a:xfrm flipV="1">
                <a:off x="1312333" y="5805558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extBox 100"/>
              <p:cNvSpPr txBox="1"/>
              <p:nvPr/>
            </p:nvSpPr>
            <p:spPr>
              <a:xfrm>
                <a:off x="1487090" y="5738976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102" name="Group 101"/>
              <p:cNvGrpSpPr/>
              <p:nvPr/>
            </p:nvGrpSpPr>
            <p:grpSpPr>
              <a:xfrm>
                <a:off x="1321929" y="5845148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105" name="Straight Arrow Connector 104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6" name="TextBox 105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103" name="Straight Arrow Connector 102"/>
              <p:cNvCxnSpPr/>
              <p:nvPr/>
            </p:nvCxnSpPr>
            <p:spPr>
              <a:xfrm flipV="1">
                <a:off x="743525" y="5867904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TextBox 103"/>
              <p:cNvSpPr txBox="1"/>
              <p:nvPr/>
            </p:nvSpPr>
            <p:spPr>
              <a:xfrm>
                <a:off x="447769" y="5723587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cxnSp>
          <p:nvCxnSpPr>
            <p:cNvPr id="107" name="Straight Arrow Connector 106"/>
            <p:cNvCxnSpPr>
              <a:endCxn id="75" idx="0"/>
            </p:cNvCxnSpPr>
            <p:nvPr/>
          </p:nvCxnSpPr>
          <p:spPr>
            <a:xfrm>
              <a:off x="665574" y="1299363"/>
              <a:ext cx="0" cy="982098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>
              <a:endCxn id="84" idx="0"/>
            </p:cNvCxnSpPr>
            <p:nvPr/>
          </p:nvCxnSpPr>
          <p:spPr>
            <a:xfrm>
              <a:off x="6281575" y="1299363"/>
              <a:ext cx="0" cy="982098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/>
            <p:cNvSpPr txBox="1"/>
            <p:nvPr/>
          </p:nvSpPr>
          <p:spPr>
            <a:xfrm>
              <a:off x="966231" y="1338547"/>
              <a:ext cx="2051145" cy="66895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>
                  <a:sym typeface="Wingdings"/>
                </a:rPr>
                <a:t> BTM_ENABLED_EVT</a:t>
              </a:r>
            </a:p>
            <a:p>
              <a:r>
                <a:rPr lang="en-US" sz="800" err="1">
                  <a:sym typeface="Wingdings"/>
                </a:rPr>
                <a:t>wiced_bt_app_init</a:t>
              </a:r>
              <a:endParaRPr lang="en-US" sz="800">
                <a:sym typeface="Wingdings"/>
              </a:endParaRPr>
            </a:p>
            <a:p>
              <a:r>
                <a:rPr lang="en-US" sz="800" err="1">
                  <a:sym typeface="Wingdings"/>
                </a:rPr>
                <a:t>wiced_bt_gatt_register</a:t>
              </a:r>
              <a:endParaRPr lang="en-US" sz="800">
                <a:sym typeface="Wingdings"/>
              </a:endParaRPr>
            </a:p>
            <a:p>
              <a:r>
                <a:rPr lang="en-US" sz="800" err="1"/>
                <a:t>wiced_bt_ble_set_raw_advertisement_data</a:t>
              </a:r>
              <a:endParaRPr lang="en-US" sz="800"/>
            </a:p>
            <a:p>
              <a:r>
                <a:rPr lang="en-US" sz="800" err="1"/>
                <a:t>wiced_bt_start_advertisements</a:t>
              </a:r>
              <a:endParaRPr lang="en-US" sz="800"/>
            </a:p>
          </p:txBody>
        </p:sp>
        <p:cxnSp>
          <p:nvCxnSpPr>
            <p:cNvPr id="111" name="Straight Arrow Connector 110"/>
            <p:cNvCxnSpPr/>
            <p:nvPr/>
          </p:nvCxnSpPr>
          <p:spPr>
            <a:xfrm flipV="1">
              <a:off x="2874766" y="1673025"/>
              <a:ext cx="636921" cy="97949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/>
            <p:cNvSpPr txBox="1"/>
            <p:nvPr/>
          </p:nvSpPr>
          <p:spPr>
            <a:xfrm>
              <a:off x="3551337" y="1299363"/>
              <a:ext cx="2389601" cy="9244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lIns="45720" tIns="0" rIns="45720" bIns="0" rtlCol="0" anchor="t" anchorCtr="0">
              <a:noAutofit/>
            </a:bodyPr>
            <a:lstStyle/>
            <a:p>
              <a:r>
                <a:rPr lang="en-US" sz="800" b="1" u="sng">
                  <a:sym typeface="Wingdings"/>
                </a:rPr>
                <a:t>Advertising Packet </a:t>
              </a:r>
              <a:r>
                <a:rPr lang="mr-IN" sz="800" b="1" u="sng">
                  <a:sym typeface="Wingdings"/>
                </a:rPr>
                <a:t>–</a:t>
              </a:r>
              <a:r>
                <a:rPr lang="en-US" sz="800" b="1" u="sng">
                  <a:sym typeface="Wingdings"/>
                </a:rPr>
                <a:t> up to 31 bytes</a:t>
              </a:r>
            </a:p>
            <a:p>
              <a:r>
                <a:rPr lang="en-US" sz="800">
                  <a:sym typeface="Wingdings"/>
                </a:rPr>
                <a:t>BDADDR </a:t>
              </a:r>
              <a:r>
                <a:rPr lang="mr-IN" sz="800">
                  <a:sym typeface="Wingdings"/>
                </a:rPr>
                <a:t>–</a:t>
              </a:r>
              <a:r>
                <a:rPr lang="en-US" sz="800">
                  <a:sym typeface="Wingdings"/>
                </a:rPr>
                <a:t> Bluetooth Address</a:t>
              </a:r>
            </a:p>
            <a:p>
              <a:r>
                <a:rPr lang="en-US" sz="800">
                  <a:sym typeface="Wingdings"/>
                </a:rPr>
                <a:t>Flags Connectable, Scannable</a:t>
              </a:r>
            </a:p>
            <a:p>
              <a:r>
                <a:rPr lang="en-US" sz="800" u="sng">
                  <a:sym typeface="Wingdings"/>
                </a:rPr>
                <a:t>Optional Fields</a:t>
              </a:r>
              <a:r>
                <a:rPr lang="mr-IN" sz="800" u="sng">
                  <a:sym typeface="Wingdings"/>
                </a:rPr>
                <a:t>…</a:t>
              </a:r>
              <a:endParaRPr lang="en-US" sz="800" u="sng">
                <a:sym typeface="Wingdings"/>
              </a:endParaRPr>
            </a:p>
            <a:p>
              <a:r>
                <a:rPr lang="en-US" sz="800">
                  <a:sym typeface="Wingdings"/>
                </a:rPr>
                <a:t>Name</a:t>
              </a:r>
            </a:p>
            <a:p>
              <a:r>
                <a:rPr lang="en-US" sz="800">
                  <a:sym typeface="Wingdings"/>
                </a:rPr>
                <a:t>Available Services</a:t>
              </a:r>
            </a:p>
            <a:p>
              <a:r>
                <a:rPr lang="en-US" sz="800">
                  <a:sym typeface="Wingdings"/>
                </a:rPr>
                <a:t>Vendor Specific Data</a:t>
              </a:r>
            </a:p>
            <a:p>
              <a:r>
                <a:rPr lang="en-US" sz="800">
                  <a:sym typeface="Wingdings"/>
                </a:rPr>
                <a:t> </a:t>
              </a:r>
              <a:endParaRPr lang="en-US" sz="800"/>
            </a:p>
          </p:txBody>
        </p:sp>
        <p:grpSp>
          <p:nvGrpSpPr>
            <p:cNvPr id="31" name="Group 30"/>
            <p:cNvGrpSpPr/>
            <p:nvPr/>
          </p:nvGrpSpPr>
          <p:grpSpPr>
            <a:xfrm>
              <a:off x="3206555" y="2270304"/>
              <a:ext cx="588535" cy="439727"/>
              <a:chOff x="3186007" y="3462102"/>
              <a:chExt cx="588535" cy="439727"/>
            </a:xfrm>
          </p:grpSpPr>
          <p:cxnSp>
            <p:nvCxnSpPr>
              <p:cNvPr id="112" name="Straight Arrow Connector 111"/>
              <p:cNvCxnSpPr/>
              <p:nvPr/>
            </p:nvCxnSpPr>
            <p:spPr>
              <a:xfrm flipV="1">
                <a:off x="3201425" y="3462102"/>
                <a:ext cx="306641" cy="79598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/>
              <p:cNvCxnSpPr/>
              <p:nvPr/>
            </p:nvCxnSpPr>
            <p:spPr>
              <a:xfrm>
                <a:off x="3201425" y="3811308"/>
                <a:ext cx="309268" cy="90521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" name="TextBox 116"/>
              <p:cNvSpPr txBox="1"/>
              <p:nvPr/>
            </p:nvSpPr>
            <p:spPr>
              <a:xfrm>
                <a:off x="3186007" y="3608074"/>
                <a:ext cx="588535" cy="15186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txBody>
              <a:bodyPr wrap="square" lIns="45720" tIns="0" rIns="45720" bIns="0" rtlCol="0" anchor="t" anchorCtr="0">
                <a:noAutofit/>
              </a:bodyPr>
              <a:lstStyle/>
              <a:p>
                <a:pPr algn="ctr"/>
                <a:r>
                  <a:rPr lang="en-US" sz="800">
                    <a:sym typeface="Wingdings"/>
                  </a:rPr>
                  <a:t>ADV</a:t>
                </a:r>
              </a:p>
              <a:p>
                <a:r>
                  <a:rPr lang="en-US" sz="800">
                    <a:sym typeface="Wingdings"/>
                  </a:rPr>
                  <a:t> </a:t>
                </a:r>
                <a:endParaRPr lang="en-US" sz="8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7724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08759B4-59F7-462B-8232-92CE21E29546}"/>
              </a:ext>
            </a:extLst>
          </p:cNvPr>
          <p:cNvGrpSpPr/>
          <p:nvPr/>
        </p:nvGrpSpPr>
        <p:grpSpPr>
          <a:xfrm>
            <a:off x="69487" y="152774"/>
            <a:ext cx="6835630" cy="8778606"/>
            <a:chOff x="45275" y="152774"/>
            <a:chExt cx="6835630" cy="8778606"/>
          </a:xfrm>
        </p:grpSpPr>
        <p:grpSp>
          <p:nvGrpSpPr>
            <p:cNvPr id="16" name="Group 15"/>
            <p:cNvGrpSpPr/>
            <p:nvPr/>
          </p:nvGrpSpPr>
          <p:grpSpPr>
            <a:xfrm>
              <a:off x="1351852" y="929883"/>
              <a:ext cx="1733740" cy="276999"/>
              <a:chOff x="1284479" y="2681513"/>
              <a:chExt cx="1733740" cy="276999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1284479" y="2681513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2203129" y="2681513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2750197" y="2681513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sp>
          <p:nvSpPr>
            <p:cNvPr id="17" name="TextBox 16"/>
            <p:cNvSpPr txBox="1"/>
            <p:nvPr/>
          </p:nvSpPr>
          <p:spPr>
            <a:xfrm>
              <a:off x="1872126" y="152774"/>
              <a:ext cx="114525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WICED</a:t>
              </a:r>
            </a:p>
            <a:p>
              <a:pPr algn="ctr"/>
              <a:r>
                <a:rPr lang="en-US" u="sng"/>
                <a:t>Peripheral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496359" y="152774"/>
              <a:ext cx="118173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Cell Phone</a:t>
              </a:r>
            </a:p>
            <a:p>
              <a:pPr algn="ctr"/>
              <a:r>
                <a:rPr lang="en-US" u="sng"/>
                <a:t>Central</a:t>
              </a:r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1351852" y="1875372"/>
              <a:ext cx="1733740" cy="276999"/>
              <a:chOff x="1284479" y="2681513"/>
              <a:chExt cx="1733740" cy="276999"/>
            </a:xfrm>
          </p:grpSpPr>
          <p:sp>
            <p:nvSpPr>
              <p:cNvPr id="20" name="TextBox 19"/>
              <p:cNvSpPr txBox="1"/>
              <p:nvPr/>
            </p:nvSpPr>
            <p:spPr>
              <a:xfrm>
                <a:off x="1284479" y="2681513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2203129" y="2681513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2750197" y="2681513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  <p:cxnSp>
            <p:nvCxnSpPr>
              <p:cNvPr id="23" name="Straight Arrow Connector 22"/>
              <p:cNvCxnSpPr/>
              <p:nvPr/>
            </p:nvCxnSpPr>
            <p:spPr>
              <a:xfrm flipV="1">
                <a:off x="1558913" y="2758369"/>
                <a:ext cx="634620" cy="1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/>
              <p:cNvSpPr txBox="1"/>
              <p:nvPr/>
            </p:nvSpPr>
            <p:spPr>
              <a:xfrm>
                <a:off x="1733670" y="2691787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25" name="Group 24"/>
              <p:cNvGrpSpPr/>
              <p:nvPr/>
            </p:nvGrpSpPr>
            <p:grpSpPr>
              <a:xfrm>
                <a:off x="1568509" y="2797959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27" name="Straight Arrow Connector 26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triangle" w="sm" len="sm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TextBox 27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26" name="Straight Arrow Connector 25"/>
              <p:cNvCxnSpPr/>
              <p:nvPr/>
            </p:nvCxnSpPr>
            <p:spPr>
              <a:xfrm flipV="1">
                <a:off x="2470234" y="2814898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oup 50"/>
            <p:cNvGrpSpPr/>
            <p:nvPr/>
          </p:nvGrpSpPr>
          <p:grpSpPr>
            <a:xfrm>
              <a:off x="3979865" y="927325"/>
              <a:ext cx="1783214" cy="282114"/>
              <a:chOff x="447769" y="5723587"/>
              <a:chExt cx="1783214" cy="282114"/>
            </a:xfrm>
          </p:grpSpPr>
          <p:sp>
            <p:nvSpPr>
              <p:cNvPr id="41" name="TextBox 40"/>
              <p:cNvSpPr txBox="1"/>
              <p:nvPr/>
            </p:nvSpPr>
            <p:spPr>
              <a:xfrm>
                <a:off x="1037899" y="5728702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1956549" y="5728702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cxnSp>
            <p:nvCxnSpPr>
              <p:cNvPr id="44" name="Straight Arrow Connector 43"/>
              <p:cNvCxnSpPr/>
              <p:nvPr/>
            </p:nvCxnSpPr>
            <p:spPr>
              <a:xfrm flipV="1">
                <a:off x="1312333" y="5805558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/>
              <p:cNvSpPr txBox="1"/>
              <p:nvPr/>
            </p:nvSpPr>
            <p:spPr>
              <a:xfrm>
                <a:off x="1487090" y="5738976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46" name="Group 45"/>
              <p:cNvGrpSpPr/>
              <p:nvPr/>
            </p:nvGrpSpPr>
            <p:grpSpPr>
              <a:xfrm>
                <a:off x="1321929" y="5845148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48" name="Straight Arrow Connector 47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TextBox 48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47" name="Straight Arrow Connector 46"/>
              <p:cNvCxnSpPr/>
              <p:nvPr/>
            </p:nvCxnSpPr>
            <p:spPr>
              <a:xfrm flipV="1">
                <a:off x="743525" y="5867904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Box 49"/>
              <p:cNvSpPr txBox="1"/>
              <p:nvPr/>
            </p:nvSpPr>
            <p:spPr>
              <a:xfrm>
                <a:off x="447769" y="5723587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sp>
          <p:nvSpPr>
            <p:cNvPr id="56" name="TextBox 55"/>
            <p:cNvSpPr txBox="1"/>
            <p:nvPr/>
          </p:nvSpPr>
          <p:spPr>
            <a:xfrm>
              <a:off x="958689" y="1460933"/>
              <a:ext cx="1797519" cy="1956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wiced</a:t>
              </a:r>
              <a:r>
                <a:rPr lang="en-US" sz="800" err="1"/>
                <a:t>_bt_stack_init</a:t>
              </a:r>
              <a:endParaRPr lang="en-US" sz="800"/>
            </a:p>
          </p:txBody>
        </p:sp>
        <p:grpSp>
          <p:nvGrpSpPr>
            <p:cNvPr id="57" name="Group 56"/>
            <p:cNvGrpSpPr/>
            <p:nvPr/>
          </p:nvGrpSpPr>
          <p:grpSpPr>
            <a:xfrm>
              <a:off x="3979865" y="1870257"/>
              <a:ext cx="1783214" cy="282114"/>
              <a:chOff x="447769" y="5723587"/>
              <a:chExt cx="1783214" cy="282114"/>
            </a:xfrm>
          </p:grpSpPr>
          <p:sp>
            <p:nvSpPr>
              <p:cNvPr id="58" name="TextBox 57"/>
              <p:cNvSpPr txBox="1"/>
              <p:nvPr/>
            </p:nvSpPr>
            <p:spPr>
              <a:xfrm>
                <a:off x="1037899" y="5728702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1956549" y="5728702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cxnSp>
            <p:nvCxnSpPr>
              <p:cNvPr id="60" name="Straight Arrow Connector 59"/>
              <p:cNvCxnSpPr/>
              <p:nvPr/>
            </p:nvCxnSpPr>
            <p:spPr>
              <a:xfrm flipV="1">
                <a:off x="1312333" y="5805558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/>
              <p:cNvSpPr txBox="1"/>
              <p:nvPr/>
            </p:nvSpPr>
            <p:spPr>
              <a:xfrm>
                <a:off x="1487090" y="5738976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62" name="Group 61"/>
              <p:cNvGrpSpPr/>
              <p:nvPr/>
            </p:nvGrpSpPr>
            <p:grpSpPr>
              <a:xfrm>
                <a:off x="1321929" y="5845148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65" name="Straight Arrow Connector 64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TextBox 65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63" name="Straight Arrow Connector 62"/>
              <p:cNvCxnSpPr/>
              <p:nvPr/>
            </p:nvCxnSpPr>
            <p:spPr>
              <a:xfrm flipV="1">
                <a:off x="743525" y="5867904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TextBox 63"/>
              <p:cNvSpPr txBox="1"/>
              <p:nvPr/>
            </p:nvSpPr>
            <p:spPr>
              <a:xfrm>
                <a:off x="447769" y="5723587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cxnSp>
          <p:nvCxnSpPr>
            <p:cNvPr id="52" name="Straight Arrow Connector 51"/>
            <p:cNvCxnSpPr/>
            <p:nvPr/>
          </p:nvCxnSpPr>
          <p:spPr>
            <a:xfrm>
              <a:off x="678564" y="1358947"/>
              <a:ext cx="0" cy="346873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/>
            <p:cNvSpPr txBox="1"/>
            <p:nvPr/>
          </p:nvSpPr>
          <p:spPr>
            <a:xfrm>
              <a:off x="427591" y="883716"/>
              <a:ext cx="475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Off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36183" y="1854193"/>
              <a:ext cx="4587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On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333944" y="379655"/>
              <a:ext cx="663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State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5275" y="3308875"/>
              <a:ext cx="12405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Advertising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66242" y="4564325"/>
              <a:ext cx="11986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Connected</a:t>
              </a:r>
            </a:p>
          </p:txBody>
        </p:sp>
        <p:cxnSp>
          <p:nvCxnSpPr>
            <p:cNvPr id="80" name="Straight Arrow Connector 79"/>
            <p:cNvCxnSpPr/>
            <p:nvPr/>
          </p:nvCxnSpPr>
          <p:spPr>
            <a:xfrm>
              <a:off x="6281574" y="1358947"/>
              <a:ext cx="0" cy="346873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/>
            <p:cNvSpPr txBox="1"/>
            <p:nvPr/>
          </p:nvSpPr>
          <p:spPr>
            <a:xfrm>
              <a:off x="6135540" y="883716"/>
              <a:ext cx="292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?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6135540" y="1854193"/>
              <a:ext cx="2920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?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949945" y="379655"/>
              <a:ext cx="663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/>
                <a:t>State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769383" y="3308875"/>
              <a:ext cx="1024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Scanning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5682243" y="4564325"/>
              <a:ext cx="11986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Connected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16651" y="8654381"/>
              <a:ext cx="6083208" cy="276999"/>
              <a:chOff x="416651" y="8592741"/>
              <a:chExt cx="6083208" cy="276999"/>
            </a:xfrm>
          </p:grpSpPr>
          <p:grpSp>
            <p:nvGrpSpPr>
              <p:cNvPr id="93" name="Group 92"/>
              <p:cNvGrpSpPr/>
              <p:nvPr/>
            </p:nvGrpSpPr>
            <p:grpSpPr>
              <a:xfrm>
                <a:off x="2430098" y="8592741"/>
                <a:ext cx="1905148" cy="276999"/>
                <a:chOff x="2419824" y="2746730"/>
                <a:chExt cx="1905148" cy="276999"/>
              </a:xfrm>
            </p:grpSpPr>
            <p:sp>
              <p:nvSpPr>
                <p:cNvPr id="68" name="TextBox 67"/>
                <p:cNvSpPr txBox="1"/>
                <p:nvPr/>
              </p:nvSpPr>
              <p:spPr>
                <a:xfrm>
                  <a:off x="2677854" y="2746730"/>
                  <a:ext cx="1647118" cy="276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/>
                    <a:t>Stack </a:t>
                  </a:r>
                  <a:r>
                    <a:rPr lang="mr-IN" sz="1200"/>
                    <a:t>–</a:t>
                  </a:r>
                  <a:r>
                    <a:rPr lang="en-US" sz="1200"/>
                    <a:t> Bluetooth Stack</a:t>
                  </a:r>
                </a:p>
              </p:txBody>
            </p:sp>
            <p:sp>
              <p:nvSpPr>
                <p:cNvPr id="89" name="TextBox 88"/>
                <p:cNvSpPr txBox="1"/>
                <p:nvPr/>
              </p:nvSpPr>
              <p:spPr>
                <a:xfrm>
                  <a:off x="2419824" y="2746730"/>
                  <a:ext cx="255198" cy="276999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/>
                    <a:t>S</a:t>
                  </a:r>
                </a:p>
              </p:txBody>
            </p:sp>
          </p:grpSp>
          <p:grpSp>
            <p:nvGrpSpPr>
              <p:cNvPr id="92" name="Group 91"/>
              <p:cNvGrpSpPr/>
              <p:nvPr/>
            </p:nvGrpSpPr>
            <p:grpSpPr>
              <a:xfrm>
                <a:off x="4533284" y="8592741"/>
                <a:ext cx="1966575" cy="276999"/>
                <a:chOff x="4533284" y="2746730"/>
                <a:chExt cx="1966575" cy="276999"/>
              </a:xfrm>
            </p:grpSpPr>
            <p:sp>
              <p:nvSpPr>
                <p:cNvPr id="88" name="TextBox 87"/>
                <p:cNvSpPr txBox="1"/>
                <p:nvPr/>
              </p:nvSpPr>
              <p:spPr>
                <a:xfrm>
                  <a:off x="4533284" y="2746730"/>
                  <a:ext cx="268022" cy="276999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/>
                    <a:t>R</a:t>
                  </a:r>
                </a:p>
              </p:txBody>
            </p:sp>
            <p:sp>
              <p:nvSpPr>
                <p:cNvPr id="90" name="TextBox 89"/>
                <p:cNvSpPr txBox="1"/>
                <p:nvPr/>
              </p:nvSpPr>
              <p:spPr>
                <a:xfrm>
                  <a:off x="4804138" y="2746730"/>
                  <a:ext cx="1695721" cy="276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/>
                    <a:t>Radio </a:t>
                  </a:r>
                  <a:r>
                    <a:rPr lang="mr-IN" sz="1200"/>
                    <a:t>–</a:t>
                  </a:r>
                  <a:r>
                    <a:rPr lang="en-US" sz="1200"/>
                    <a:t> Bluetooth Radio</a:t>
                  </a:r>
                </a:p>
              </p:txBody>
            </p:sp>
          </p:grpSp>
          <p:grpSp>
            <p:nvGrpSpPr>
              <p:cNvPr id="94" name="Group 93"/>
              <p:cNvGrpSpPr/>
              <p:nvPr/>
            </p:nvGrpSpPr>
            <p:grpSpPr>
              <a:xfrm>
                <a:off x="416651" y="8592741"/>
                <a:ext cx="1815409" cy="276999"/>
                <a:chOff x="416651" y="2746730"/>
                <a:chExt cx="1815409" cy="276999"/>
              </a:xfrm>
            </p:grpSpPr>
            <p:sp>
              <p:nvSpPr>
                <p:cNvPr id="86" name="TextBox 85"/>
                <p:cNvSpPr txBox="1"/>
                <p:nvPr/>
              </p:nvSpPr>
              <p:spPr>
                <a:xfrm>
                  <a:off x="416651" y="2746730"/>
                  <a:ext cx="274434" cy="276999"/>
                </a:xfrm>
                <a:prstGeom prst="rect">
                  <a:avLst/>
                </a:prstGeom>
                <a:noFill/>
                <a:ln>
                  <a:solidFill>
                    <a:schemeClr val="accent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/>
                    <a:t>A</a:t>
                  </a:r>
                </a:p>
              </p:txBody>
            </p:sp>
            <p:sp>
              <p:nvSpPr>
                <p:cNvPr id="91" name="TextBox 90"/>
                <p:cNvSpPr txBox="1"/>
                <p:nvPr/>
              </p:nvSpPr>
              <p:spPr>
                <a:xfrm>
                  <a:off x="714465" y="2746730"/>
                  <a:ext cx="1517595" cy="276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/>
                    <a:t>Application Firmware</a:t>
                  </a:r>
                </a:p>
              </p:txBody>
            </p:sp>
          </p:grpSp>
        </p:grpSp>
        <p:grpSp>
          <p:nvGrpSpPr>
            <p:cNvPr id="69" name="Group 68"/>
            <p:cNvGrpSpPr/>
            <p:nvPr/>
          </p:nvGrpSpPr>
          <p:grpSpPr>
            <a:xfrm>
              <a:off x="1351852" y="3363402"/>
              <a:ext cx="1733740" cy="276999"/>
              <a:chOff x="1284479" y="2681513"/>
              <a:chExt cx="1733740" cy="276999"/>
            </a:xfrm>
          </p:grpSpPr>
          <p:sp>
            <p:nvSpPr>
              <p:cNvPr id="70" name="TextBox 69"/>
              <p:cNvSpPr txBox="1"/>
              <p:nvPr/>
            </p:nvSpPr>
            <p:spPr>
              <a:xfrm>
                <a:off x="1284479" y="2681513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71" name="TextBox 70"/>
              <p:cNvSpPr txBox="1"/>
              <p:nvPr/>
            </p:nvSpPr>
            <p:spPr>
              <a:xfrm>
                <a:off x="2203129" y="2681513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2750197" y="2681513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  <p:cxnSp>
            <p:nvCxnSpPr>
              <p:cNvPr id="73" name="Straight Arrow Connector 72"/>
              <p:cNvCxnSpPr/>
              <p:nvPr/>
            </p:nvCxnSpPr>
            <p:spPr>
              <a:xfrm flipV="1">
                <a:off x="1558913" y="2758369"/>
                <a:ext cx="634620" cy="1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/>
              <p:cNvSpPr txBox="1"/>
              <p:nvPr/>
            </p:nvSpPr>
            <p:spPr>
              <a:xfrm>
                <a:off x="1733670" y="2691787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78" name="Group 77"/>
              <p:cNvGrpSpPr/>
              <p:nvPr/>
            </p:nvGrpSpPr>
            <p:grpSpPr>
              <a:xfrm>
                <a:off x="1568509" y="2797959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95" name="Straight Arrow Connector 94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triangle" w="sm" len="sm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6" name="TextBox 95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87" name="Straight Arrow Connector 86"/>
              <p:cNvCxnSpPr/>
              <p:nvPr/>
            </p:nvCxnSpPr>
            <p:spPr>
              <a:xfrm flipV="1">
                <a:off x="2470234" y="2814898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oup 96"/>
            <p:cNvGrpSpPr/>
            <p:nvPr/>
          </p:nvGrpSpPr>
          <p:grpSpPr>
            <a:xfrm>
              <a:off x="3978154" y="3358287"/>
              <a:ext cx="1783214" cy="282114"/>
              <a:chOff x="447769" y="5723587"/>
              <a:chExt cx="1783214" cy="282114"/>
            </a:xfrm>
          </p:grpSpPr>
          <p:sp>
            <p:nvSpPr>
              <p:cNvPr id="98" name="TextBox 97"/>
              <p:cNvSpPr txBox="1"/>
              <p:nvPr/>
            </p:nvSpPr>
            <p:spPr>
              <a:xfrm>
                <a:off x="1037899" y="5728702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99" name="TextBox 98"/>
              <p:cNvSpPr txBox="1"/>
              <p:nvPr/>
            </p:nvSpPr>
            <p:spPr>
              <a:xfrm>
                <a:off x="1956549" y="5728702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cxnSp>
            <p:nvCxnSpPr>
              <p:cNvPr id="100" name="Straight Arrow Connector 99"/>
              <p:cNvCxnSpPr/>
              <p:nvPr/>
            </p:nvCxnSpPr>
            <p:spPr>
              <a:xfrm flipV="1">
                <a:off x="1312333" y="5805558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1" name="TextBox 100"/>
              <p:cNvSpPr txBox="1"/>
              <p:nvPr/>
            </p:nvSpPr>
            <p:spPr>
              <a:xfrm>
                <a:off x="1487090" y="5738976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102" name="Group 101"/>
              <p:cNvGrpSpPr/>
              <p:nvPr/>
            </p:nvGrpSpPr>
            <p:grpSpPr>
              <a:xfrm>
                <a:off x="1321929" y="5845148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105" name="Straight Arrow Connector 104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6" name="TextBox 105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103" name="Straight Arrow Connector 102"/>
              <p:cNvCxnSpPr/>
              <p:nvPr/>
            </p:nvCxnSpPr>
            <p:spPr>
              <a:xfrm flipV="1">
                <a:off x="743525" y="5867904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TextBox 103"/>
              <p:cNvSpPr txBox="1"/>
              <p:nvPr/>
            </p:nvSpPr>
            <p:spPr>
              <a:xfrm>
                <a:off x="447769" y="5723587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cxnSp>
          <p:nvCxnSpPr>
            <p:cNvPr id="107" name="Straight Arrow Connector 106"/>
            <p:cNvCxnSpPr>
              <a:cxnSpLocks/>
              <a:endCxn id="75" idx="0"/>
            </p:cNvCxnSpPr>
            <p:nvPr/>
          </p:nvCxnSpPr>
          <p:spPr>
            <a:xfrm>
              <a:off x="665574" y="2326777"/>
              <a:ext cx="0" cy="982098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/>
            <p:nvPr/>
          </p:nvCxnSpPr>
          <p:spPr>
            <a:xfrm>
              <a:off x="6281574" y="2340868"/>
              <a:ext cx="0" cy="982098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TextBox 109"/>
            <p:cNvSpPr txBox="1"/>
            <p:nvPr/>
          </p:nvSpPr>
          <p:spPr>
            <a:xfrm>
              <a:off x="966231" y="2365961"/>
              <a:ext cx="2051145" cy="66895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>
                  <a:sym typeface="Wingdings"/>
                </a:rPr>
                <a:t> BTM_ENABLED_EVT</a:t>
              </a:r>
            </a:p>
            <a:p>
              <a:r>
                <a:rPr lang="en-US" sz="800" err="1">
                  <a:sym typeface="Wingdings"/>
                </a:rPr>
                <a:t>wiced_bt_app_init</a:t>
              </a:r>
              <a:endParaRPr lang="en-US" sz="800">
                <a:sym typeface="Wingdings"/>
              </a:endParaRPr>
            </a:p>
            <a:p>
              <a:r>
                <a:rPr lang="en-US" sz="800" err="1">
                  <a:sym typeface="Wingdings"/>
                </a:rPr>
                <a:t>wiced_bt_gatt_register</a:t>
              </a:r>
              <a:endParaRPr lang="en-US" sz="800">
                <a:sym typeface="Wingdings"/>
              </a:endParaRPr>
            </a:p>
            <a:p>
              <a:r>
                <a:rPr lang="en-US" sz="800" err="1"/>
                <a:t>wiced_bt_ble_set_raw_advertisement_data</a:t>
              </a:r>
              <a:endParaRPr lang="en-US" sz="800"/>
            </a:p>
            <a:p>
              <a:r>
                <a:rPr lang="en-US" sz="800" err="1"/>
                <a:t>wiced_bt_start_advertisements</a:t>
              </a:r>
              <a:endParaRPr lang="en-US" sz="800"/>
            </a:p>
          </p:txBody>
        </p:sp>
        <p:cxnSp>
          <p:nvCxnSpPr>
            <p:cNvPr id="111" name="Straight Arrow Connector 110"/>
            <p:cNvCxnSpPr/>
            <p:nvPr/>
          </p:nvCxnSpPr>
          <p:spPr>
            <a:xfrm flipV="1">
              <a:off x="2874766" y="2700439"/>
              <a:ext cx="636921" cy="97949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/>
            <p:cNvSpPr txBox="1"/>
            <p:nvPr/>
          </p:nvSpPr>
          <p:spPr>
            <a:xfrm>
              <a:off x="3551337" y="2326777"/>
              <a:ext cx="2389601" cy="9244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lIns="45720" tIns="0" rIns="45720" bIns="0" rtlCol="0" anchor="t" anchorCtr="0">
              <a:noAutofit/>
            </a:bodyPr>
            <a:lstStyle/>
            <a:p>
              <a:r>
                <a:rPr lang="en-US" sz="800" b="1" u="sng">
                  <a:sym typeface="Wingdings"/>
                </a:rPr>
                <a:t>Advertising Packet </a:t>
              </a:r>
              <a:r>
                <a:rPr lang="mr-IN" sz="800" b="1" u="sng">
                  <a:sym typeface="Wingdings"/>
                </a:rPr>
                <a:t>–</a:t>
              </a:r>
              <a:r>
                <a:rPr lang="en-US" sz="800" b="1" u="sng">
                  <a:sym typeface="Wingdings"/>
                </a:rPr>
                <a:t> up to 31 bytes</a:t>
              </a:r>
            </a:p>
            <a:p>
              <a:r>
                <a:rPr lang="en-US" sz="800">
                  <a:sym typeface="Wingdings"/>
                </a:rPr>
                <a:t>BDADDR </a:t>
              </a:r>
              <a:r>
                <a:rPr lang="mr-IN" sz="800">
                  <a:sym typeface="Wingdings"/>
                </a:rPr>
                <a:t>–</a:t>
              </a:r>
              <a:r>
                <a:rPr lang="en-US" sz="800">
                  <a:sym typeface="Wingdings"/>
                </a:rPr>
                <a:t> Bluetooth Address</a:t>
              </a:r>
            </a:p>
            <a:p>
              <a:r>
                <a:rPr lang="en-US" sz="800">
                  <a:sym typeface="Wingdings"/>
                </a:rPr>
                <a:t>Flags Connectable, Scannable</a:t>
              </a:r>
            </a:p>
            <a:p>
              <a:r>
                <a:rPr lang="en-US" sz="800" u="sng">
                  <a:sym typeface="Wingdings"/>
                </a:rPr>
                <a:t>Optional Fields</a:t>
              </a:r>
              <a:r>
                <a:rPr lang="mr-IN" sz="800" u="sng">
                  <a:sym typeface="Wingdings"/>
                </a:rPr>
                <a:t>…</a:t>
              </a:r>
              <a:endParaRPr lang="en-US" sz="800" u="sng">
                <a:sym typeface="Wingdings"/>
              </a:endParaRPr>
            </a:p>
            <a:p>
              <a:r>
                <a:rPr lang="en-US" sz="800">
                  <a:sym typeface="Wingdings"/>
                </a:rPr>
                <a:t>Name</a:t>
              </a:r>
            </a:p>
            <a:p>
              <a:r>
                <a:rPr lang="en-US" sz="800">
                  <a:sym typeface="Wingdings"/>
                </a:rPr>
                <a:t>Available Services</a:t>
              </a:r>
            </a:p>
            <a:p>
              <a:r>
                <a:rPr lang="en-US" sz="800">
                  <a:sym typeface="Wingdings"/>
                </a:rPr>
                <a:t>Vendor Specific Data</a:t>
              </a:r>
            </a:p>
            <a:p>
              <a:r>
                <a:rPr lang="en-US" sz="800">
                  <a:sym typeface="Wingdings"/>
                </a:rPr>
                <a:t> </a:t>
              </a:r>
              <a:endParaRPr lang="en-US" sz="800"/>
            </a:p>
          </p:txBody>
        </p:sp>
        <p:grpSp>
          <p:nvGrpSpPr>
            <p:cNvPr id="31" name="Group 30"/>
            <p:cNvGrpSpPr/>
            <p:nvPr/>
          </p:nvGrpSpPr>
          <p:grpSpPr>
            <a:xfrm>
              <a:off x="3206555" y="3297718"/>
              <a:ext cx="588535" cy="439727"/>
              <a:chOff x="3186007" y="3462102"/>
              <a:chExt cx="588535" cy="439727"/>
            </a:xfrm>
          </p:grpSpPr>
          <p:cxnSp>
            <p:nvCxnSpPr>
              <p:cNvPr id="112" name="Straight Arrow Connector 111"/>
              <p:cNvCxnSpPr/>
              <p:nvPr/>
            </p:nvCxnSpPr>
            <p:spPr>
              <a:xfrm flipV="1">
                <a:off x="3201425" y="3462102"/>
                <a:ext cx="306641" cy="79598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/>
              <p:cNvCxnSpPr/>
              <p:nvPr/>
            </p:nvCxnSpPr>
            <p:spPr>
              <a:xfrm>
                <a:off x="3201425" y="3811308"/>
                <a:ext cx="309268" cy="90521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" name="TextBox 116"/>
              <p:cNvSpPr txBox="1"/>
              <p:nvPr/>
            </p:nvSpPr>
            <p:spPr>
              <a:xfrm>
                <a:off x="3186007" y="3608074"/>
                <a:ext cx="588535" cy="15186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1"/>
                </a:solidFill>
              </a:ln>
            </p:spPr>
            <p:txBody>
              <a:bodyPr wrap="square" lIns="45720" tIns="0" rIns="45720" bIns="0" rtlCol="0" anchor="t" anchorCtr="0">
                <a:noAutofit/>
              </a:bodyPr>
              <a:lstStyle/>
              <a:p>
                <a:pPr algn="ctr"/>
                <a:r>
                  <a:rPr lang="en-US" sz="800">
                    <a:sym typeface="Wingdings"/>
                  </a:rPr>
                  <a:t>ADV</a:t>
                </a:r>
              </a:p>
              <a:p>
                <a:r>
                  <a:rPr lang="en-US" sz="800">
                    <a:sym typeface="Wingdings"/>
                  </a:rPr>
                  <a:t> </a:t>
                </a:r>
                <a:endParaRPr lang="en-US" sz="800"/>
              </a:p>
            </p:txBody>
          </p:sp>
        </p:grpSp>
        <p:grpSp>
          <p:nvGrpSpPr>
            <p:cNvPr id="109" name="Group 108"/>
            <p:cNvGrpSpPr/>
            <p:nvPr/>
          </p:nvGrpSpPr>
          <p:grpSpPr>
            <a:xfrm>
              <a:off x="1267949" y="4635688"/>
              <a:ext cx="1733740" cy="276999"/>
              <a:chOff x="1284479" y="2681513"/>
              <a:chExt cx="1733740" cy="276999"/>
            </a:xfrm>
          </p:grpSpPr>
          <p:sp>
            <p:nvSpPr>
              <p:cNvPr id="113" name="TextBox 112"/>
              <p:cNvSpPr txBox="1"/>
              <p:nvPr/>
            </p:nvSpPr>
            <p:spPr>
              <a:xfrm>
                <a:off x="1284479" y="2681513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sp>
            <p:nvSpPr>
              <p:cNvPr id="116" name="TextBox 115"/>
              <p:cNvSpPr txBox="1"/>
              <p:nvPr/>
            </p:nvSpPr>
            <p:spPr>
              <a:xfrm>
                <a:off x="2203129" y="2681513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118" name="TextBox 117"/>
              <p:cNvSpPr txBox="1"/>
              <p:nvPr/>
            </p:nvSpPr>
            <p:spPr>
              <a:xfrm>
                <a:off x="2750197" y="2681513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  <p:cxnSp>
            <p:nvCxnSpPr>
              <p:cNvPr id="119" name="Straight Arrow Connector 118"/>
              <p:cNvCxnSpPr/>
              <p:nvPr/>
            </p:nvCxnSpPr>
            <p:spPr>
              <a:xfrm flipV="1">
                <a:off x="1558913" y="2758369"/>
                <a:ext cx="634620" cy="1"/>
              </a:xfrm>
              <a:prstGeom prst="straightConnector1">
                <a:avLst/>
              </a:prstGeom>
              <a:ln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TextBox 119"/>
              <p:cNvSpPr txBox="1"/>
              <p:nvPr/>
            </p:nvSpPr>
            <p:spPr>
              <a:xfrm>
                <a:off x="1733670" y="2691787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121" name="Group 120"/>
              <p:cNvGrpSpPr/>
              <p:nvPr/>
            </p:nvGrpSpPr>
            <p:grpSpPr>
              <a:xfrm>
                <a:off x="1568509" y="2797959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123" name="Straight Arrow Connector 122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triangle" w="sm" len="sm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4" name="TextBox 123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122" name="Straight Arrow Connector 121"/>
              <p:cNvCxnSpPr/>
              <p:nvPr/>
            </p:nvCxnSpPr>
            <p:spPr>
              <a:xfrm flipV="1">
                <a:off x="2470234" y="2814898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oup 124"/>
            <p:cNvGrpSpPr/>
            <p:nvPr/>
          </p:nvGrpSpPr>
          <p:grpSpPr>
            <a:xfrm>
              <a:off x="3894251" y="4630573"/>
              <a:ext cx="1783214" cy="282114"/>
              <a:chOff x="447769" y="5723587"/>
              <a:chExt cx="1783214" cy="282114"/>
            </a:xfrm>
          </p:grpSpPr>
          <p:sp>
            <p:nvSpPr>
              <p:cNvPr id="126" name="TextBox 125"/>
              <p:cNvSpPr txBox="1"/>
              <p:nvPr/>
            </p:nvSpPr>
            <p:spPr>
              <a:xfrm>
                <a:off x="1037899" y="5728702"/>
                <a:ext cx="255198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</a:t>
                </a:r>
              </a:p>
            </p:txBody>
          </p:sp>
          <p:sp>
            <p:nvSpPr>
              <p:cNvPr id="127" name="TextBox 126"/>
              <p:cNvSpPr txBox="1"/>
              <p:nvPr/>
            </p:nvSpPr>
            <p:spPr>
              <a:xfrm>
                <a:off x="1956549" y="5728702"/>
                <a:ext cx="274434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A</a:t>
                </a:r>
              </a:p>
            </p:txBody>
          </p:sp>
          <p:cxnSp>
            <p:nvCxnSpPr>
              <p:cNvPr id="128" name="Straight Arrow Connector 127"/>
              <p:cNvCxnSpPr/>
              <p:nvPr/>
            </p:nvCxnSpPr>
            <p:spPr>
              <a:xfrm flipV="1">
                <a:off x="1312333" y="5805558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9" name="TextBox 128"/>
              <p:cNvSpPr txBox="1"/>
              <p:nvPr/>
            </p:nvSpPr>
            <p:spPr>
              <a:xfrm>
                <a:off x="1487090" y="5738976"/>
                <a:ext cx="228600" cy="1231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spAutoFit/>
              </a:bodyPr>
              <a:lstStyle/>
              <a:p>
                <a:pPr algn="ctr"/>
                <a:r>
                  <a:rPr lang="en-US" sz="800"/>
                  <a:t>API</a:t>
                </a:r>
              </a:p>
            </p:txBody>
          </p:sp>
          <p:grpSp>
            <p:nvGrpSpPr>
              <p:cNvPr id="130" name="Group 129"/>
              <p:cNvGrpSpPr/>
              <p:nvPr/>
            </p:nvGrpSpPr>
            <p:grpSpPr>
              <a:xfrm>
                <a:off x="1321929" y="5845148"/>
                <a:ext cx="634620" cy="118872"/>
                <a:chOff x="1568509" y="3183234"/>
                <a:chExt cx="634620" cy="118872"/>
              </a:xfrm>
            </p:grpSpPr>
            <p:cxnSp>
              <p:nvCxnSpPr>
                <p:cNvPr id="133" name="Straight Arrow Connector 132"/>
                <p:cNvCxnSpPr/>
                <p:nvPr/>
              </p:nvCxnSpPr>
              <p:spPr>
                <a:xfrm flipV="1">
                  <a:off x="1568509" y="3249816"/>
                  <a:ext cx="634620" cy="1"/>
                </a:xfrm>
                <a:prstGeom prst="straightConnector1">
                  <a:avLst/>
                </a:prstGeom>
                <a:ln>
                  <a:headEnd type="none" w="sm" len="sm"/>
                  <a:tailEnd type="triangle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4" name="TextBox 133"/>
                <p:cNvSpPr txBox="1"/>
                <p:nvPr/>
              </p:nvSpPr>
              <p:spPr>
                <a:xfrm>
                  <a:off x="1686759" y="3183234"/>
                  <a:ext cx="411480" cy="11887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45720" tIns="0" rIns="45720" bIns="0" rtlCol="0">
                  <a:spAutoFit/>
                </a:bodyPr>
                <a:lstStyle/>
                <a:p>
                  <a:pPr algn="ctr"/>
                  <a:r>
                    <a:rPr lang="en-US" sz="800"/>
                    <a:t>EVENTS</a:t>
                  </a:r>
                </a:p>
              </p:txBody>
            </p:sp>
          </p:grpSp>
          <p:cxnSp>
            <p:nvCxnSpPr>
              <p:cNvPr id="131" name="Straight Arrow Connector 130"/>
              <p:cNvCxnSpPr/>
              <p:nvPr/>
            </p:nvCxnSpPr>
            <p:spPr>
              <a:xfrm flipV="1">
                <a:off x="743525" y="5867904"/>
                <a:ext cx="272221" cy="2"/>
              </a:xfrm>
              <a:prstGeom prst="straightConnector1">
                <a:avLst/>
              </a:prstGeom>
              <a:ln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TextBox 131"/>
              <p:cNvSpPr txBox="1"/>
              <p:nvPr/>
            </p:nvSpPr>
            <p:spPr>
              <a:xfrm>
                <a:off x="447769" y="5723587"/>
                <a:ext cx="268022" cy="276999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R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2412627" y="4021463"/>
              <a:ext cx="3239371" cy="209428"/>
              <a:chOff x="2412627" y="4802299"/>
              <a:chExt cx="3239371" cy="209428"/>
            </a:xfrm>
          </p:grpSpPr>
          <p:sp>
            <p:nvSpPr>
              <p:cNvPr id="135" name="TextBox 134"/>
              <p:cNvSpPr txBox="1"/>
              <p:nvPr/>
            </p:nvSpPr>
            <p:spPr>
              <a:xfrm>
                <a:off x="3086592" y="4802299"/>
                <a:ext cx="751061" cy="20942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45720" tIns="0" rIns="45720" bIns="0" rtlCol="0">
                <a:noAutofit/>
              </a:bodyPr>
              <a:lstStyle/>
              <a:p>
                <a:pPr algn="ctr"/>
                <a:r>
                  <a:rPr lang="en-US" sz="800"/>
                  <a:t>CONN_REQ</a:t>
                </a:r>
              </a:p>
            </p:txBody>
          </p:sp>
          <p:cxnSp>
            <p:nvCxnSpPr>
              <p:cNvPr id="136" name="Straight Arrow Connector 135"/>
              <p:cNvCxnSpPr/>
              <p:nvPr/>
            </p:nvCxnSpPr>
            <p:spPr>
              <a:xfrm flipV="1">
                <a:off x="3822156" y="4854669"/>
                <a:ext cx="1829842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Arrow Connector 136"/>
              <p:cNvCxnSpPr/>
              <p:nvPr/>
            </p:nvCxnSpPr>
            <p:spPr>
              <a:xfrm flipV="1">
                <a:off x="2412627" y="4851312"/>
                <a:ext cx="634620" cy="1"/>
              </a:xfrm>
              <a:prstGeom prst="straightConnector1">
                <a:avLst/>
              </a:prstGeom>
              <a:ln>
                <a:headEnd type="triangle" w="sm" len="sm"/>
                <a:tailEnd type="non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6" name="TextBox 145"/>
            <p:cNvSpPr txBox="1"/>
            <p:nvPr/>
          </p:nvSpPr>
          <p:spPr>
            <a:xfrm>
              <a:off x="4242095" y="3944093"/>
              <a:ext cx="1607969" cy="256091"/>
            </a:xfrm>
            <a:prstGeom prst="rect">
              <a:avLst/>
            </a:prstGeom>
            <a:noFill/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Central App Initiates a Connection</a:t>
              </a:r>
            </a:p>
          </p:txBody>
        </p:sp>
        <p:cxnSp>
          <p:nvCxnSpPr>
            <p:cNvPr id="11" name="Straight Connector 10"/>
            <p:cNvCxnSpPr/>
            <p:nvPr/>
          </p:nvCxnSpPr>
          <p:spPr>
            <a:xfrm>
              <a:off x="2310750" y="3948338"/>
              <a:ext cx="13722" cy="66680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/>
            <p:cNvCxnSpPr>
              <a:cxnSpLocks/>
              <a:stCxn id="75" idx="2"/>
            </p:cNvCxnSpPr>
            <p:nvPr/>
          </p:nvCxnSpPr>
          <p:spPr>
            <a:xfrm flipH="1">
              <a:off x="661614" y="3678207"/>
              <a:ext cx="3960" cy="943197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TextBox 143"/>
            <p:cNvSpPr txBox="1"/>
            <p:nvPr/>
          </p:nvSpPr>
          <p:spPr>
            <a:xfrm>
              <a:off x="324185" y="4068711"/>
              <a:ext cx="1964307" cy="34022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>
                  <a:sym typeface="Wingdings"/>
                </a:rPr>
                <a:t> GATT_CONNECTION_STATUS_EVT</a:t>
              </a:r>
            </a:p>
            <a:p>
              <a:r>
                <a:rPr lang="en-US" sz="800">
                  <a:sym typeface="Wingdings"/>
                </a:rPr>
                <a:t> BTM_BLE_ADVERT_STATE_CHANGED_EVT</a:t>
              </a:r>
            </a:p>
          </p:txBody>
        </p:sp>
        <p:cxnSp>
          <p:nvCxnSpPr>
            <p:cNvPr id="148" name="Straight Arrow Connector 147"/>
            <p:cNvCxnSpPr/>
            <p:nvPr/>
          </p:nvCxnSpPr>
          <p:spPr>
            <a:xfrm>
              <a:off x="6263377" y="3646924"/>
              <a:ext cx="0" cy="982098"/>
            </a:xfrm>
            <a:prstGeom prst="straightConnector1">
              <a:avLst/>
            </a:prstGeom>
            <a:ln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/>
            <p:cNvSpPr txBox="1"/>
            <p:nvPr/>
          </p:nvSpPr>
          <p:spPr>
            <a:xfrm>
              <a:off x="1317718" y="5486403"/>
              <a:ext cx="1058175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GATT</a:t>
              </a:r>
            </a:p>
            <a:p>
              <a:pPr algn="ctr"/>
              <a:r>
                <a:rPr lang="en-US"/>
                <a:t>Database</a:t>
              </a:r>
            </a:p>
          </p:txBody>
        </p:sp>
        <p:cxnSp>
          <p:nvCxnSpPr>
            <p:cNvPr id="187" name="Straight Arrow Connector 186"/>
            <p:cNvCxnSpPr>
              <a:cxnSpLocks/>
              <a:stCxn id="113" idx="2"/>
              <a:endCxn id="29" idx="0"/>
            </p:cNvCxnSpPr>
            <p:nvPr/>
          </p:nvCxnSpPr>
          <p:spPr>
            <a:xfrm>
              <a:off x="1405166" y="4912687"/>
              <a:ext cx="441640" cy="573716"/>
            </a:xfrm>
            <a:prstGeom prst="straightConnector1">
              <a:avLst/>
            </a:prstGeom>
            <a:ln>
              <a:headEnd type="triangle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0" name="TextBox 169"/>
            <p:cNvSpPr txBox="1"/>
            <p:nvPr/>
          </p:nvSpPr>
          <p:spPr>
            <a:xfrm>
              <a:off x="4455067" y="6349034"/>
              <a:ext cx="1740682" cy="256091"/>
            </a:xfrm>
            <a:prstGeom prst="rect">
              <a:avLst/>
            </a:prstGeom>
            <a:noFill/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Central App initiates a Read Attribute</a:t>
              </a:r>
            </a:p>
          </p:txBody>
        </p:sp>
        <p:sp>
          <p:nvSpPr>
            <p:cNvPr id="171" name="TextBox 170"/>
            <p:cNvSpPr txBox="1"/>
            <p:nvPr/>
          </p:nvSpPr>
          <p:spPr>
            <a:xfrm>
              <a:off x="1683629" y="6409463"/>
              <a:ext cx="1267445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GATTS_REQ_TYPE_READ</a:t>
              </a:r>
            </a:p>
          </p:txBody>
        </p:sp>
        <p:sp>
          <p:nvSpPr>
            <p:cNvPr id="167" name="TextBox 166"/>
            <p:cNvSpPr txBox="1"/>
            <p:nvPr/>
          </p:nvSpPr>
          <p:spPr>
            <a:xfrm>
              <a:off x="3395208" y="6414506"/>
              <a:ext cx="807659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/>
                <a:t>READ_REQ</a:t>
              </a:r>
            </a:p>
          </p:txBody>
        </p:sp>
        <p:cxnSp>
          <p:nvCxnSpPr>
            <p:cNvPr id="168" name="Straight Arrow Connector 167"/>
            <p:cNvCxnSpPr/>
            <p:nvPr/>
          </p:nvCxnSpPr>
          <p:spPr>
            <a:xfrm flipV="1">
              <a:off x="4167840" y="6478774"/>
              <a:ext cx="1829842" cy="1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Arrow Connector 168"/>
            <p:cNvCxnSpPr>
              <a:cxnSpLocks/>
            </p:cNvCxnSpPr>
            <p:nvPr/>
          </p:nvCxnSpPr>
          <p:spPr>
            <a:xfrm>
              <a:off x="2893538" y="6475417"/>
              <a:ext cx="375555" cy="1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TextBox 172"/>
            <p:cNvSpPr txBox="1"/>
            <p:nvPr/>
          </p:nvSpPr>
          <p:spPr>
            <a:xfrm>
              <a:off x="94359" y="6634029"/>
              <a:ext cx="1058175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GATT</a:t>
              </a:r>
            </a:p>
            <a:p>
              <a:pPr algn="ctr"/>
              <a:r>
                <a:rPr lang="en-US"/>
                <a:t>Database</a:t>
              </a:r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2107848" y="5132944"/>
              <a:ext cx="1420766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Service Discovery</a:t>
              </a:r>
            </a:p>
            <a:p>
              <a:r>
                <a:rPr lang="en-US" sz="800"/>
                <a:t>Permission &amp; Handle Validation</a:t>
              </a:r>
            </a:p>
          </p:txBody>
        </p:sp>
        <p:cxnSp>
          <p:nvCxnSpPr>
            <p:cNvPr id="188" name="Straight Arrow Connector 187"/>
            <p:cNvCxnSpPr>
              <a:cxnSpLocks/>
              <a:stCxn id="116" idx="2"/>
              <a:endCxn id="29" idx="0"/>
            </p:cNvCxnSpPr>
            <p:nvPr/>
          </p:nvCxnSpPr>
          <p:spPr>
            <a:xfrm flipH="1">
              <a:off x="1846806" y="4912687"/>
              <a:ext cx="467392" cy="573716"/>
            </a:xfrm>
            <a:prstGeom prst="straightConnector1">
              <a:avLst/>
            </a:prstGeom>
            <a:ln>
              <a:headEnd type="triangle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5" name="TextBox 174"/>
            <p:cNvSpPr txBox="1"/>
            <p:nvPr/>
          </p:nvSpPr>
          <p:spPr>
            <a:xfrm>
              <a:off x="3395208" y="6596642"/>
              <a:ext cx="807659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/>
                <a:t>READ_RSP</a:t>
              </a:r>
            </a:p>
          </p:txBody>
        </p:sp>
        <p:sp>
          <p:nvSpPr>
            <p:cNvPr id="176" name="TextBox 175"/>
            <p:cNvSpPr txBox="1"/>
            <p:nvPr/>
          </p:nvSpPr>
          <p:spPr>
            <a:xfrm>
              <a:off x="1687349" y="6599033"/>
              <a:ext cx="1267445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Read Handler</a:t>
              </a:r>
            </a:p>
          </p:txBody>
        </p:sp>
        <p:cxnSp>
          <p:nvCxnSpPr>
            <p:cNvPr id="177" name="Straight Arrow Connector 176"/>
            <p:cNvCxnSpPr/>
            <p:nvPr/>
          </p:nvCxnSpPr>
          <p:spPr>
            <a:xfrm flipH="1">
              <a:off x="1208501" y="6675359"/>
              <a:ext cx="478964" cy="71155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Arrow Connector 177"/>
            <p:cNvCxnSpPr/>
            <p:nvPr/>
          </p:nvCxnSpPr>
          <p:spPr>
            <a:xfrm flipH="1">
              <a:off x="2333815" y="6660910"/>
              <a:ext cx="1059116" cy="0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Arrow Connector 178"/>
            <p:cNvCxnSpPr/>
            <p:nvPr/>
          </p:nvCxnSpPr>
          <p:spPr>
            <a:xfrm flipH="1" flipV="1">
              <a:off x="4082422" y="6660910"/>
              <a:ext cx="1915260" cy="14449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0" name="TextBox 179"/>
            <p:cNvSpPr txBox="1"/>
            <p:nvPr/>
          </p:nvSpPr>
          <p:spPr>
            <a:xfrm>
              <a:off x="4350117" y="6806235"/>
              <a:ext cx="1849351" cy="256091"/>
            </a:xfrm>
            <a:prstGeom prst="rect">
              <a:avLst/>
            </a:prstGeom>
            <a:noFill/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Central App Initiates a Write of Attribute</a:t>
              </a:r>
            </a:p>
          </p:txBody>
        </p:sp>
        <p:sp>
          <p:nvSpPr>
            <p:cNvPr id="181" name="TextBox 180"/>
            <p:cNvSpPr txBox="1"/>
            <p:nvPr/>
          </p:nvSpPr>
          <p:spPr>
            <a:xfrm>
              <a:off x="1687349" y="6866664"/>
              <a:ext cx="1267445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GATTS_REQ_TYPE_WRITE</a:t>
              </a:r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3257081" y="6806235"/>
              <a:ext cx="1058175" cy="19630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 dirty="0"/>
                <a:t>WRITE_CMD (no resp)</a:t>
              </a:r>
            </a:p>
            <a:p>
              <a:r>
                <a:rPr lang="en-US" sz="800" dirty="0"/>
                <a:t>WRITE_REQ (resp)</a:t>
              </a:r>
            </a:p>
          </p:txBody>
        </p:sp>
        <p:cxnSp>
          <p:nvCxnSpPr>
            <p:cNvPr id="184" name="Straight Arrow Connector 183"/>
            <p:cNvCxnSpPr/>
            <p:nvPr/>
          </p:nvCxnSpPr>
          <p:spPr>
            <a:xfrm flipV="1">
              <a:off x="4171560" y="6935975"/>
              <a:ext cx="1829842" cy="1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Arrow Connector 184"/>
            <p:cNvCxnSpPr>
              <a:cxnSpLocks/>
            </p:cNvCxnSpPr>
            <p:nvPr/>
          </p:nvCxnSpPr>
          <p:spPr>
            <a:xfrm>
              <a:off x="2863917" y="6932618"/>
              <a:ext cx="375555" cy="1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TextBox 185"/>
            <p:cNvSpPr txBox="1"/>
            <p:nvPr/>
          </p:nvSpPr>
          <p:spPr>
            <a:xfrm>
              <a:off x="3395208" y="7053843"/>
              <a:ext cx="807659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/>
                <a:t>WRITE_RSP</a:t>
              </a:r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1691069" y="7056234"/>
              <a:ext cx="1267445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Write Handler</a:t>
              </a:r>
            </a:p>
          </p:txBody>
        </p:sp>
        <p:cxnSp>
          <p:nvCxnSpPr>
            <p:cNvPr id="190" name="Straight Arrow Connector 189"/>
            <p:cNvCxnSpPr/>
            <p:nvPr/>
          </p:nvCxnSpPr>
          <p:spPr>
            <a:xfrm flipH="1">
              <a:off x="2337535" y="7118111"/>
              <a:ext cx="1059116" cy="0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Arrow Connector 190"/>
            <p:cNvCxnSpPr/>
            <p:nvPr/>
          </p:nvCxnSpPr>
          <p:spPr>
            <a:xfrm flipH="1" flipV="1">
              <a:off x="4086142" y="7118111"/>
              <a:ext cx="1915260" cy="14449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Arrow Connector 191"/>
            <p:cNvCxnSpPr>
              <a:cxnSpLocks/>
              <a:stCxn id="173" idx="3"/>
              <a:endCxn id="189" idx="1"/>
            </p:cNvCxnSpPr>
            <p:nvPr/>
          </p:nvCxnSpPr>
          <p:spPr>
            <a:xfrm>
              <a:off x="1152534" y="6957195"/>
              <a:ext cx="538535" cy="190652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TextBox 196"/>
            <p:cNvSpPr txBox="1"/>
            <p:nvPr/>
          </p:nvSpPr>
          <p:spPr>
            <a:xfrm>
              <a:off x="4335247" y="6988371"/>
              <a:ext cx="1867942" cy="256091"/>
            </a:xfrm>
            <a:prstGeom prst="rect">
              <a:avLst/>
            </a:prstGeom>
            <a:noFill/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Central Receive Confirmation of Write</a:t>
              </a:r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4335246" y="6546039"/>
              <a:ext cx="1901397" cy="256091"/>
            </a:xfrm>
            <a:prstGeom prst="rect">
              <a:avLst/>
            </a:prstGeom>
            <a:noFill/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Central Receive Confirmation &amp; Data</a:t>
              </a:r>
            </a:p>
          </p:txBody>
        </p:sp>
        <p:sp>
          <p:nvSpPr>
            <p:cNvPr id="194" name="TextBox 193"/>
            <p:cNvSpPr txBox="1"/>
            <p:nvPr/>
          </p:nvSpPr>
          <p:spPr>
            <a:xfrm>
              <a:off x="1419725" y="7335013"/>
              <a:ext cx="2472816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 err="1"/>
                <a:t>wiced_bt_gatt_send_notification</a:t>
              </a:r>
              <a:endParaRPr lang="en-US" sz="800"/>
            </a:p>
          </p:txBody>
        </p:sp>
        <p:cxnSp>
          <p:nvCxnSpPr>
            <p:cNvPr id="195" name="Straight Arrow Connector 194"/>
            <p:cNvCxnSpPr/>
            <p:nvPr/>
          </p:nvCxnSpPr>
          <p:spPr>
            <a:xfrm flipH="1">
              <a:off x="1368311" y="7450682"/>
              <a:ext cx="1952654" cy="12356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1" name="TextBox 200"/>
            <p:cNvSpPr txBox="1"/>
            <p:nvPr/>
          </p:nvSpPr>
          <p:spPr>
            <a:xfrm>
              <a:off x="4254835" y="7286495"/>
              <a:ext cx="1605974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Central Receives Notification</a:t>
              </a:r>
            </a:p>
          </p:txBody>
        </p:sp>
        <p:cxnSp>
          <p:nvCxnSpPr>
            <p:cNvPr id="196" name="Straight Arrow Connector 195"/>
            <p:cNvCxnSpPr/>
            <p:nvPr/>
          </p:nvCxnSpPr>
          <p:spPr>
            <a:xfrm flipH="1">
              <a:off x="4190604" y="7453530"/>
              <a:ext cx="1587223" cy="6660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TextBox 202"/>
            <p:cNvSpPr txBox="1"/>
            <p:nvPr/>
          </p:nvSpPr>
          <p:spPr>
            <a:xfrm>
              <a:off x="3395208" y="7811991"/>
              <a:ext cx="807659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/>
                <a:t>INDICATION</a:t>
              </a:r>
            </a:p>
          </p:txBody>
        </p:sp>
        <p:sp>
          <p:nvSpPr>
            <p:cNvPr id="204" name="TextBox 203"/>
            <p:cNvSpPr txBox="1"/>
            <p:nvPr/>
          </p:nvSpPr>
          <p:spPr>
            <a:xfrm>
              <a:off x="1423444" y="7730778"/>
              <a:ext cx="1605974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/>
                <a:t>wiced_bt_gatt_send_indication</a:t>
              </a:r>
            </a:p>
          </p:txBody>
        </p:sp>
        <p:cxnSp>
          <p:nvCxnSpPr>
            <p:cNvPr id="205" name="Straight Arrow Connector 204"/>
            <p:cNvCxnSpPr/>
            <p:nvPr/>
          </p:nvCxnSpPr>
          <p:spPr>
            <a:xfrm flipH="1">
              <a:off x="1372030" y="7897426"/>
              <a:ext cx="1952654" cy="12356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6" name="TextBox 205"/>
            <p:cNvSpPr txBox="1"/>
            <p:nvPr/>
          </p:nvSpPr>
          <p:spPr>
            <a:xfrm>
              <a:off x="4258554" y="7730778"/>
              <a:ext cx="1605974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/>
                <a:t>Central Receives Indication</a:t>
              </a:r>
            </a:p>
          </p:txBody>
        </p:sp>
        <p:cxnSp>
          <p:nvCxnSpPr>
            <p:cNvPr id="207" name="Straight Arrow Connector 206"/>
            <p:cNvCxnSpPr/>
            <p:nvPr/>
          </p:nvCxnSpPr>
          <p:spPr>
            <a:xfrm flipH="1">
              <a:off x="4194323" y="7900274"/>
              <a:ext cx="1587223" cy="6660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4" name="TextBox 213"/>
            <p:cNvSpPr txBox="1"/>
            <p:nvPr/>
          </p:nvSpPr>
          <p:spPr>
            <a:xfrm>
              <a:off x="4383571" y="8029622"/>
              <a:ext cx="1849351" cy="256091"/>
            </a:xfrm>
            <a:prstGeom prst="rect">
              <a:avLst/>
            </a:prstGeom>
            <a:noFill/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Central  Sends Handle Value Confirmation</a:t>
              </a:r>
            </a:p>
          </p:txBody>
        </p:sp>
        <p:sp>
          <p:nvSpPr>
            <p:cNvPr id="215" name="TextBox 214"/>
            <p:cNvSpPr txBox="1"/>
            <p:nvPr/>
          </p:nvSpPr>
          <p:spPr>
            <a:xfrm>
              <a:off x="1720803" y="8077704"/>
              <a:ext cx="1267445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>
              <a:noAutofit/>
            </a:bodyPr>
            <a:lstStyle/>
            <a:p>
              <a:r>
                <a:rPr lang="en-US" sz="800"/>
                <a:t>GATTS_REQ_TYPE_CONF</a:t>
              </a:r>
            </a:p>
          </p:txBody>
        </p:sp>
        <p:sp>
          <p:nvSpPr>
            <p:cNvPr id="217" name="TextBox 216"/>
            <p:cNvSpPr txBox="1"/>
            <p:nvPr/>
          </p:nvSpPr>
          <p:spPr>
            <a:xfrm>
              <a:off x="3395208" y="8077704"/>
              <a:ext cx="807659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/>
                <a:t>CONFIRMATION</a:t>
              </a:r>
            </a:p>
          </p:txBody>
        </p:sp>
        <p:cxnSp>
          <p:nvCxnSpPr>
            <p:cNvPr id="218" name="Straight Arrow Connector 217"/>
            <p:cNvCxnSpPr/>
            <p:nvPr/>
          </p:nvCxnSpPr>
          <p:spPr>
            <a:xfrm flipV="1">
              <a:off x="4205014" y="8169317"/>
              <a:ext cx="1829842" cy="1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Arrow Connector 218"/>
            <p:cNvCxnSpPr/>
            <p:nvPr/>
          </p:nvCxnSpPr>
          <p:spPr>
            <a:xfrm>
              <a:off x="2853702" y="8166372"/>
              <a:ext cx="576403" cy="5891"/>
            </a:xfrm>
            <a:prstGeom prst="straightConnector1">
              <a:avLst/>
            </a:prstGeom>
            <a:ln>
              <a:headEnd type="triangle" w="sm" len="sm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Box 224"/>
            <p:cNvSpPr txBox="1"/>
            <p:nvPr/>
          </p:nvSpPr>
          <p:spPr>
            <a:xfrm>
              <a:off x="6100786" y="6313383"/>
              <a:ext cx="6536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Read</a:t>
              </a:r>
            </a:p>
          </p:txBody>
        </p:sp>
        <p:sp>
          <p:nvSpPr>
            <p:cNvPr id="226" name="TextBox 225"/>
            <p:cNvSpPr txBox="1"/>
            <p:nvPr/>
          </p:nvSpPr>
          <p:spPr>
            <a:xfrm>
              <a:off x="6085611" y="6777508"/>
              <a:ext cx="7062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Write</a:t>
              </a:r>
            </a:p>
          </p:txBody>
        </p:sp>
        <p:sp>
          <p:nvSpPr>
            <p:cNvPr id="227" name="TextBox 226"/>
            <p:cNvSpPr txBox="1"/>
            <p:nvPr/>
          </p:nvSpPr>
          <p:spPr>
            <a:xfrm>
              <a:off x="641507" y="7255001"/>
              <a:ext cx="761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Notify</a:t>
              </a:r>
            </a:p>
          </p:txBody>
        </p:sp>
        <p:sp>
          <p:nvSpPr>
            <p:cNvPr id="228" name="TextBox 227"/>
            <p:cNvSpPr txBox="1"/>
            <p:nvPr/>
          </p:nvSpPr>
          <p:spPr>
            <a:xfrm>
              <a:off x="491959" y="7840293"/>
              <a:ext cx="9334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/>
                <a:t>Indicate</a:t>
              </a:r>
            </a:p>
          </p:txBody>
        </p:sp>
        <p:sp>
          <p:nvSpPr>
            <p:cNvPr id="193" name="TextBox 192"/>
            <p:cNvSpPr txBox="1"/>
            <p:nvPr/>
          </p:nvSpPr>
          <p:spPr>
            <a:xfrm>
              <a:off x="3395208" y="7377099"/>
              <a:ext cx="807659" cy="18322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45720" tIns="0" rIns="45720" bIns="0" rtlCol="0" anchor="ctr" anchorCtr="1">
              <a:noAutofit/>
            </a:bodyPr>
            <a:lstStyle/>
            <a:p>
              <a:r>
                <a:rPr lang="en-US" sz="800"/>
                <a:t>NOTIFICATION</a:t>
              </a:r>
            </a:p>
          </p:txBody>
        </p:sp>
        <p:sp>
          <p:nvSpPr>
            <p:cNvPr id="3" name="Arrow: Left-Right 2">
              <a:extLst>
                <a:ext uri="{FF2B5EF4-FFF2-40B4-BE49-F238E27FC236}">
                  <a16:creationId xmlns:a16="http://schemas.microsoft.com/office/drawing/2014/main" id="{009ED4C6-1977-48D3-AD93-9DE4D0021D63}"/>
                </a:ext>
              </a:extLst>
            </p:cNvPr>
            <p:cNvSpPr/>
            <p:nvPr/>
          </p:nvSpPr>
          <p:spPr>
            <a:xfrm>
              <a:off x="3119738" y="4655650"/>
              <a:ext cx="668438" cy="242146"/>
            </a:xfrm>
            <a:prstGeom prst="left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34036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5834" y="735980"/>
            <a:ext cx="1767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application_start</a:t>
            </a:r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445833" y="1899424"/>
            <a:ext cx="2408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management_callback</a:t>
            </a:r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792274" y="2693536"/>
            <a:ext cx="1074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app_init</a:t>
            </a:r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445833" y="4243556"/>
            <a:ext cx="1668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event_handler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544194" y="5230956"/>
            <a:ext cx="1747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server_callback</a:t>
            </a:r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369599" y="5908497"/>
            <a:ext cx="16282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write_handler</a:t>
            </a: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359826" y="5908497"/>
            <a:ext cx="1565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read_handler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423017" y="6447472"/>
            <a:ext cx="12155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get_value</a:t>
            </a:r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575937" y="6632138"/>
            <a:ext cx="1198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set_value</a:t>
            </a:r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613942" y="7390422"/>
            <a:ext cx="1913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_</a:t>
            </a:r>
            <a:r>
              <a:rPr lang="en-US" err="1"/>
              <a:t>connect_callback</a:t>
            </a:r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769327" y="3456878"/>
            <a:ext cx="326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GATT_ATTRIBUTE_REQUEST_EVT</a:t>
            </a:r>
          </a:p>
        </p:txBody>
      </p:sp>
    </p:spTree>
    <p:extLst>
      <p:ext uri="{BB962C8B-B14F-4D97-AF65-F5344CB8AC3E}">
        <p14:creationId xmlns:p14="http://schemas.microsoft.com/office/powerpoint/2010/main" val="494150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8674</TotalTime>
  <Words>481</Words>
  <Application>Microsoft Office PowerPoint</Application>
  <PresentationFormat>Letter Paper (8.5x11 in)</PresentationFormat>
  <Paragraphs>205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Mangal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 Hawse</dc:creator>
  <cp:lastModifiedBy>Greg Landry</cp:lastModifiedBy>
  <cp:revision>41</cp:revision>
  <dcterms:created xsi:type="dcterms:W3CDTF">2018-05-13T12:04:53Z</dcterms:created>
  <dcterms:modified xsi:type="dcterms:W3CDTF">2019-05-09T00:05:03Z</dcterms:modified>
</cp:coreProperties>
</file>